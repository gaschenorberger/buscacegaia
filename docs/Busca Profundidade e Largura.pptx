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3038"/>
    <a:srgbClr val="00B050"/>
    <a:srgbClr val="DFE4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Tempo médio (ms)</c:v>
          </c:tx>
          <c:spPr>
            <a:solidFill>
              <a:srgbClr val="14796F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C56-4DCA-866D-3BCF759C96AD}"/>
              </c:ext>
            </c:extLst>
          </c:dPt>
          <c:dPt>
            <c:idx val="1"/>
            <c:invertIfNegative val="0"/>
            <c:bubble3D val="0"/>
            <c:spPr>
              <a:solidFill>
                <a:srgbClr val="C97343"/>
              </a:solidFill>
            </c:spPr>
            <c:extLst>
              <c:ext xmlns:c16="http://schemas.microsoft.com/office/drawing/2014/chart" uri="{C3380CC4-5D6E-409C-BE32-E72D297353CC}">
                <c16:uniqueId val="{00000003-DC56-4DCA-866D-3BCF759C96A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 b="1">
                    <a:solidFill>
                      <a:srgbClr val="17242B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DFS</c:v>
                </c:pt>
                <c:pt idx="1">
                  <c:v>BFS</c:v>
                </c:pt>
              </c:strCache>
            </c:strRef>
          </c:cat>
          <c:val>
            <c:numRef>
              <c:f>'Chart Data'!$B$2:$B$3</c:f>
              <c:numCache>
                <c:formatCode>0.#########</c:formatCode>
                <c:ptCount val="2"/>
                <c:pt idx="0">
                  <c:v>8.0055000000000005E-3</c:v>
                </c:pt>
                <c:pt idx="1">
                  <c:v>9.7206250000000001E-3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DC56-4DCA-866D-3BCF759C96A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0.#########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</c:valAx>
      <c:spPr>
        <a:noFill/>
      </c:spPr>
    </c:plotArea>
    <c:plotVisOnly val="1"/>
    <c:dispBlanksAs val="zero"/>
    <c:showDLblsOverMax val="1"/>
  </c:chart>
  <c:spPr>
    <a:noFill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Memória média (KiB)</c:v>
          </c:tx>
          <c:spPr>
            <a:solidFill>
              <a:srgbClr val="14796F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8FD-4371-BCF1-2E987185A167}"/>
              </c:ext>
            </c:extLst>
          </c:dPt>
          <c:dPt>
            <c:idx val="1"/>
            <c:invertIfNegative val="0"/>
            <c:bubble3D val="0"/>
            <c:spPr>
              <a:solidFill>
                <a:srgbClr val="C97343"/>
              </a:solidFill>
            </c:spPr>
            <c:extLst>
              <c:ext xmlns:c16="http://schemas.microsoft.com/office/drawing/2014/chart" uri="{C3380CC4-5D6E-409C-BE32-E72D297353CC}">
                <c16:uniqueId val="{00000003-98FD-4371-BCF1-2E987185A16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 b="1">
                    <a:solidFill>
                      <a:srgbClr val="17242B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DFS</c:v>
                </c:pt>
                <c:pt idx="1">
                  <c:v>BFS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1.0860000000000001</c:v>
                </c:pt>
                <c:pt idx="1">
                  <c:v>2.117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98FD-4371-BCF1-2E987185A16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0.00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</c:valAx>
      <c:spPr>
        <a:noFill/>
      </c:spPr>
    </c:plotArea>
    <c:plotVisOnly val="1"/>
    <c:dispBlanksAs val="zero"/>
    <c:showDLblsOverMax val="1"/>
  </c:chart>
  <c:spPr>
    <a:noFill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Posições examinadas</c:v>
          </c:tx>
          <c:spPr>
            <a:solidFill>
              <a:srgbClr val="14796F"/>
            </a:solidFill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C90-404F-9112-EB7F92D3AD1C}"/>
              </c:ext>
            </c:extLst>
          </c:dPt>
          <c:dPt>
            <c:idx val="1"/>
            <c:invertIfNegative val="0"/>
            <c:bubble3D val="0"/>
            <c:spPr>
              <a:solidFill>
                <a:srgbClr val="C97343"/>
              </a:solidFill>
            </c:spPr>
            <c:extLst>
              <c:ext xmlns:c16="http://schemas.microsoft.com/office/drawing/2014/chart" uri="{C3380CC4-5D6E-409C-BE32-E72D297353CC}">
                <c16:uniqueId val="{00000003-5C90-404F-9112-EB7F92D3AD1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 b="1">
                    <a:solidFill>
                      <a:srgbClr val="17242B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DFS</c:v>
                </c:pt>
                <c:pt idx="1">
                  <c:v>BFS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9</c:v>
                </c:pt>
                <c:pt idx="1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5C90-404F-9112-EB7F92D3AD1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</c:valAx>
      <c:spPr>
        <a:noFill/>
      </c:spPr>
    </c:plotArea>
    <c:plotVisOnly val="1"/>
    <c:dispBlanksAs val="zero"/>
    <c:showDLblsOverMax val="1"/>
  </c:chart>
  <c:spPr>
    <a:noFill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Apresentar a pergunta central: como DFS e BFS se comportam no mesmo labirinto? Os nomes da capa seguem a lista enviada no pedido.</a:t>
            </a:r>
          </a:p>
          <a:p>
            <a:endParaRPr/>
          </a:p>
          <a:p>
            <a:r>
              <a:t>Fontes: Pedido do usuário; https://github.com/gaschenorberger/BuscaCegaIA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Explicar que cada célula livre é um estado. A busca começa em (0,0), termina em (4,4) e não usa diagonais.</a:t>
            </a:r>
          </a:p>
          <a:p>
            <a:endParaRPr/>
          </a:p>
          <a:p>
            <a:r>
              <a:t>Fontes: PDF, seção 2; https://github.com/gaschenorberger/BuscaCegaIA/blob/main/labirinto.py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a diferença na estrutura de dados. A ordem dos vizinhos é igual; a pilha e a fila mudam a ordem das posições examinadas.</a:t>
            </a:r>
          </a:p>
          <a:p>
            <a:endParaRPr/>
          </a:p>
          <a:p>
            <a:r>
              <a:t>Fontes: Pseudocódigos fornecidos; https://github.com/gaschenorberger/BuscaCegaIA/blob/main/buscaProfundidade.py; https://github.com/gaschenorberger/BuscaCegaIA/blob/main/buscaLargura.py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Percorrer os números do mapa. Nesta execução a DFS examina apenas as 9 casas do caminho final. O princípio geral de backtracking existe, mas não foi necessário antes de alcançar a saída neste labirinto.</a:t>
            </a:r>
          </a:p>
          <a:p>
            <a:endParaRPr/>
          </a:p>
          <a:p>
            <a:r>
              <a:t>Fontes: Pseudocódigo DFS; https://github.com/gaschenorberger/BuscaCegaIA/blob/main/buscaProfundidade.py; https://github.com/gaschenorberger/BuscaCegaIA/blob/main/labirinto.py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Percorrer a ordem. As posições (3,1) e (2,4) aparecem antes da saída, mas não pertencem ao caminho final. A BFS marca visitados ao enfileirar.</a:t>
            </a:r>
          </a:p>
          <a:p>
            <a:endParaRPr/>
          </a:p>
          <a:p>
            <a:r>
              <a:t>Fontes: Pseudocódigo BFS; https://github.com/gaschenorberger/BuscaCegaIA/blob/main/buscaLargura.py; https://github.com/gaschenorberger/BuscaCegaIA/blob/main/labirinto.py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as linhas destacadas: retirar o último na DFS e o primeiro na BFS. O texto é uma seleção das etapas essenciais dos arquivos fornecidos. No código Python, a DFS verifica visitados antes de testar a saída; como a saída não foi visitada antes, o resultado é o mesmo.</a:t>
            </a:r>
          </a:p>
          <a:p>
            <a:endParaRPr/>
          </a:p>
          <a:p>
            <a:r>
              <a:t>Fontes: pseudocodigo_DFS.txt; pseudocodigo_BFS.txt; https://github.com/gaschenorberger/BuscaCegaIA/blob/main/buscaProfundidade.py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Comparar lado a lado. O caminho final é igual: (0,0), (1,0), (1,1), (1,2), (2,2), (3,2), (3,3), (3,4), (4,4). A BFS examina adicionalmente (3,1) e (2,4). A ordem foi derivada das listas de vizinhos e das estruturas de dados do repositório.</a:t>
            </a:r>
          </a:p>
          <a:p>
            <a:endParaRPr/>
          </a:p>
          <a:p>
            <a:r>
              <a:t>Fontes: https://github.com/gaschenorberger/BuscaCegaIA/blob/main/labirinto.py; https://github.com/gaschenorberger/BuscaCegaIA/blob/main/buscaProfundidade.py; https://github.com/gaschenorberger/BuscaCegaIA/blob/main/buscaLargura.py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tempo foi medido sem tracemalloc ativo. A memória foi medida separadamente. Cada métrica teve 10 valores, com descarte do maior e do menor antes da média e do desvio padrão.</a:t>
            </a:r>
          </a:p>
          <a:p>
            <a:endParaRPr/>
          </a:p>
          <a:p>
            <a:r>
              <a:t>Fontes: PDF, seções 3.1 e 3.2; https://github.com/gaschenorberger/BuscaCegaIA/blob/main/benchmark.py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valores são os resultados oficiais do PDF e da planilha. A diferença entre as médias de tempo é pequena em termos absolutos, pois o mapa é 5 × 5. Não generalizar para outros mapas.</a:t>
            </a:r>
          </a:p>
          <a:p>
            <a:endParaRPr/>
          </a:p>
          <a:p>
            <a:r>
              <a:t>Fontes: PDF, tabela da seção 3.2; Comparacao DFS BFS.xlsx, Resumo!B5:E12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comparação usa sua própria unidade e escala. Mostrar que a DFS teve menor tempo, menor memória e examinou menos posições; o comprimento do caminho empatou. Os valores completos estão na tabela anterior.</a:t>
            </a:r>
          </a:p>
          <a:p>
            <a:endParaRPr/>
          </a:p>
          <a:p>
            <a:r>
              <a:t>Fontes: PDF, seção 3; Comparacao DFS BFS.xlsx, Resumo!B5:E12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Explicar que estas são propriedades gerais, diferentes das medições específicas. A DFS pode ser eficiente em memória, mas isso depende da implementação e da estrutura do problema.</a:t>
            </a:r>
          </a:p>
          <a:p>
            <a:endParaRPr/>
          </a:p>
          <a:p>
            <a:r>
              <a:t>Fontes: PDF, seções 3.6 e 4; https://github.com/gaschenorberger/BuscaCegaIA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as perguntas como critério, sem apresentar um vencedor universal. No nosso mapa ambos chegaram ao menor caminho observado, mas só a BFS oferece a garantia teórica com custos iguais.</a:t>
            </a:r>
          </a:p>
          <a:p>
            <a:endParaRPr/>
          </a:p>
          <a:p>
            <a:r>
              <a:t>Fontes: PDF, seções 3.6 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Enfatizar as palavras neste labirinto. A diferença decorre da exploração adicional da BFS nesse mapa e das implementações usadas. Não afirmar superioridade universal da DFS.</a:t>
            </a:r>
          </a:p>
          <a:p>
            <a:endParaRPr/>
          </a:p>
          <a:p>
            <a:r>
              <a:t>Fontes: PDF, seção 3.6; Comparacao DFS BFS.xlsx, Resumo!B5:E12; https://github.com/gaschenorberger/BuscaCegaIA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Fechar a análise separando o achado experimental da propriedade teórica. Os resultados valem para este labirinto e este ambiente.</a:t>
            </a:r>
          </a:p>
          <a:p>
            <a:endParaRPr/>
          </a:p>
          <a:p>
            <a:r>
              <a:t>Fontes: PDF, conclusão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para perguntas. Se pedirem detalhes técnicos, voltar aos slides de pseudocódigo, percurso e metodologia.</a:t>
            </a:r>
          </a:p>
          <a:p>
            <a:endParaRPr/>
          </a:p>
          <a:p>
            <a:r>
              <a:t>Fontes: https://github.com/gaschenorberger/BuscaCegaIA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ângulo 31">
            <a:extLst>
              <a:ext uri="{FF2B5EF4-FFF2-40B4-BE49-F238E27FC236}">
                <a16:creationId xmlns:a16="http://schemas.microsoft.com/office/drawing/2014/main" id="{5DBA9A58-6D7F-4B1E-8989-7D921983158A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742950" cy="57150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F8F7AC2-DDD5-47F3-A3AC-055D89AC4C2B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69532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Busca em Profundidade</a:t>
            </a:r>
          </a:p>
          <a:p>
            <a:pPr algn="l">
              <a:defRPr sz="3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vs Busca em Largura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676EFDD-F9FB-4FFB-BF4B-958E72480B84}"/>
              </a:ext>
            </a:extLst>
          </p:cNvPr>
          <p:cNvSpPr>
            <a:spLocks noGrp="1"/>
          </p:cNvSpPr>
          <p:nvPr/>
        </p:nvSpPr>
        <p:spPr>
          <a:xfrm>
            <a:off x="704850" y="2705100"/>
            <a:ext cx="6238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0">
                <a:solidFill>
                  <a:srgbClr val="C5D4D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5D4D3"/>
                </a:solidFill>
                <a:latin typeface="Arial"/>
                <a:ea typeface="Arial"/>
                <a:cs typeface="Arial"/>
              </a:rPr>
              <a:t>Análise comparativa aplicada ao problema do labirinto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B08594D-B679-4E84-87EC-4D72DD5D04DF}"/>
              </a:ext>
            </a:extLst>
          </p:cNvPr>
          <p:cNvSpPr>
            <a:spLocks noGrp="1"/>
          </p:cNvSpPr>
          <p:nvPr/>
        </p:nvSpPr>
        <p:spPr>
          <a:xfrm>
            <a:off x="8477250" y="1123950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6DA8CB7-80B6-4F6A-A21A-44F384D1F439}"/>
              </a:ext>
            </a:extLst>
          </p:cNvPr>
          <p:cNvSpPr>
            <a:spLocks noGrp="1"/>
          </p:cNvSpPr>
          <p:nvPr/>
        </p:nvSpPr>
        <p:spPr>
          <a:xfrm>
            <a:off x="9020175" y="112395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D5AF2DA-12D9-4527-B691-89BE5BCB292D}"/>
              </a:ext>
            </a:extLst>
          </p:cNvPr>
          <p:cNvSpPr>
            <a:spLocks noGrp="1"/>
          </p:cNvSpPr>
          <p:nvPr/>
        </p:nvSpPr>
        <p:spPr>
          <a:xfrm>
            <a:off x="9563100" y="112395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E67EE92-9923-4A31-A0FD-D0D58C593877}"/>
              </a:ext>
            </a:extLst>
          </p:cNvPr>
          <p:cNvSpPr>
            <a:spLocks noGrp="1"/>
          </p:cNvSpPr>
          <p:nvPr/>
        </p:nvSpPr>
        <p:spPr>
          <a:xfrm>
            <a:off x="10106025" y="112395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3496497-69F0-42FA-8962-82B016B96C80}"/>
              </a:ext>
            </a:extLst>
          </p:cNvPr>
          <p:cNvSpPr>
            <a:spLocks noGrp="1"/>
          </p:cNvSpPr>
          <p:nvPr/>
        </p:nvSpPr>
        <p:spPr>
          <a:xfrm>
            <a:off x="10648950" y="112395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360F127-3427-4FB6-B12E-9769B5BBD1F8}"/>
              </a:ext>
            </a:extLst>
          </p:cNvPr>
          <p:cNvSpPr>
            <a:spLocks noGrp="1"/>
          </p:cNvSpPr>
          <p:nvPr/>
        </p:nvSpPr>
        <p:spPr>
          <a:xfrm>
            <a:off x="8477250" y="1666875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353D2D7-560C-4ACB-B282-9AA47CDD515C}"/>
              </a:ext>
            </a:extLst>
          </p:cNvPr>
          <p:cNvSpPr>
            <a:spLocks noGrp="1"/>
          </p:cNvSpPr>
          <p:nvPr/>
        </p:nvSpPr>
        <p:spPr>
          <a:xfrm>
            <a:off x="9020175" y="1666875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3392AB5-2F6F-4DDE-B23F-BE46B8029888}"/>
              </a:ext>
            </a:extLst>
          </p:cNvPr>
          <p:cNvSpPr>
            <a:spLocks noGrp="1"/>
          </p:cNvSpPr>
          <p:nvPr/>
        </p:nvSpPr>
        <p:spPr>
          <a:xfrm>
            <a:off x="9563100" y="1666875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69E49E49-49C1-4F34-9649-9FD63208F04D}"/>
              </a:ext>
            </a:extLst>
          </p:cNvPr>
          <p:cNvSpPr>
            <a:spLocks noGrp="1"/>
          </p:cNvSpPr>
          <p:nvPr/>
        </p:nvSpPr>
        <p:spPr>
          <a:xfrm>
            <a:off x="10106025" y="1666875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C7B6718-488C-4C98-B34B-588FC6B572D0}"/>
              </a:ext>
            </a:extLst>
          </p:cNvPr>
          <p:cNvSpPr>
            <a:spLocks noGrp="1"/>
          </p:cNvSpPr>
          <p:nvPr/>
        </p:nvSpPr>
        <p:spPr>
          <a:xfrm>
            <a:off x="10648950" y="1666875"/>
            <a:ext cx="514350" cy="51435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D79C9F6-E83C-4F72-98B9-AFFFCAB14EE9}"/>
              </a:ext>
            </a:extLst>
          </p:cNvPr>
          <p:cNvSpPr>
            <a:spLocks noGrp="1"/>
          </p:cNvSpPr>
          <p:nvPr/>
        </p:nvSpPr>
        <p:spPr>
          <a:xfrm>
            <a:off x="8477250" y="220980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4167F24-87A2-4A50-8780-0B94377F4D8D}"/>
              </a:ext>
            </a:extLst>
          </p:cNvPr>
          <p:cNvSpPr>
            <a:spLocks noGrp="1"/>
          </p:cNvSpPr>
          <p:nvPr/>
        </p:nvSpPr>
        <p:spPr>
          <a:xfrm>
            <a:off x="9020175" y="220980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2A1F5BA-3E73-4178-8531-693BD751743C}"/>
              </a:ext>
            </a:extLst>
          </p:cNvPr>
          <p:cNvSpPr>
            <a:spLocks noGrp="1"/>
          </p:cNvSpPr>
          <p:nvPr/>
        </p:nvSpPr>
        <p:spPr>
          <a:xfrm>
            <a:off x="9563100" y="2209800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6283AE3-4EF2-4065-BDD0-61F66D72250C}"/>
              </a:ext>
            </a:extLst>
          </p:cNvPr>
          <p:cNvSpPr>
            <a:spLocks noGrp="1"/>
          </p:cNvSpPr>
          <p:nvPr/>
        </p:nvSpPr>
        <p:spPr>
          <a:xfrm>
            <a:off x="10106025" y="220980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C3174C6D-5F26-4E93-A361-19020DB6F9A0}"/>
              </a:ext>
            </a:extLst>
          </p:cNvPr>
          <p:cNvSpPr>
            <a:spLocks noGrp="1"/>
          </p:cNvSpPr>
          <p:nvPr/>
        </p:nvSpPr>
        <p:spPr>
          <a:xfrm>
            <a:off x="10648950" y="2209800"/>
            <a:ext cx="514350" cy="51435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86962BC0-85A9-44AF-B6C4-27B7723C8523}"/>
              </a:ext>
            </a:extLst>
          </p:cNvPr>
          <p:cNvSpPr>
            <a:spLocks noGrp="1"/>
          </p:cNvSpPr>
          <p:nvPr/>
        </p:nvSpPr>
        <p:spPr>
          <a:xfrm>
            <a:off x="8477250" y="2752725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3810F1EA-EF86-4632-8765-722069F01CCD}"/>
              </a:ext>
            </a:extLst>
          </p:cNvPr>
          <p:cNvSpPr>
            <a:spLocks noGrp="1"/>
          </p:cNvSpPr>
          <p:nvPr/>
        </p:nvSpPr>
        <p:spPr>
          <a:xfrm>
            <a:off x="9020175" y="2752725"/>
            <a:ext cx="514350" cy="51435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6D245212-1005-4712-9C2A-32E67BF4915C}"/>
              </a:ext>
            </a:extLst>
          </p:cNvPr>
          <p:cNvSpPr>
            <a:spLocks noGrp="1"/>
          </p:cNvSpPr>
          <p:nvPr/>
        </p:nvSpPr>
        <p:spPr>
          <a:xfrm>
            <a:off x="9563100" y="2752725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50BA7E97-9996-4C3C-910D-83719D32FEA2}"/>
              </a:ext>
            </a:extLst>
          </p:cNvPr>
          <p:cNvSpPr>
            <a:spLocks noGrp="1"/>
          </p:cNvSpPr>
          <p:nvPr/>
        </p:nvSpPr>
        <p:spPr>
          <a:xfrm>
            <a:off x="10106025" y="2752725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8A93DF51-B4C7-45CD-A9DE-012C1F4E240D}"/>
              </a:ext>
            </a:extLst>
          </p:cNvPr>
          <p:cNvSpPr>
            <a:spLocks noGrp="1"/>
          </p:cNvSpPr>
          <p:nvPr/>
        </p:nvSpPr>
        <p:spPr>
          <a:xfrm>
            <a:off x="10648950" y="2752725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663FBBF4-A0D1-4058-A27A-D23E9EBB3061}"/>
              </a:ext>
            </a:extLst>
          </p:cNvPr>
          <p:cNvSpPr>
            <a:spLocks noGrp="1"/>
          </p:cNvSpPr>
          <p:nvPr/>
        </p:nvSpPr>
        <p:spPr>
          <a:xfrm>
            <a:off x="8477250" y="329565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C736FC9-BF50-4FED-9778-F8DAFE879588}"/>
              </a:ext>
            </a:extLst>
          </p:cNvPr>
          <p:cNvSpPr>
            <a:spLocks noGrp="1"/>
          </p:cNvSpPr>
          <p:nvPr/>
        </p:nvSpPr>
        <p:spPr>
          <a:xfrm>
            <a:off x="9020175" y="329565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33A4B79D-BA89-4742-9D58-BA98292BB9AE}"/>
              </a:ext>
            </a:extLst>
          </p:cNvPr>
          <p:cNvSpPr>
            <a:spLocks noGrp="1"/>
          </p:cNvSpPr>
          <p:nvPr/>
        </p:nvSpPr>
        <p:spPr>
          <a:xfrm>
            <a:off x="9563100" y="329565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F10643F0-B545-4E5F-AA36-A3E1900E7AF5}"/>
              </a:ext>
            </a:extLst>
          </p:cNvPr>
          <p:cNvSpPr>
            <a:spLocks noGrp="1"/>
          </p:cNvSpPr>
          <p:nvPr/>
        </p:nvSpPr>
        <p:spPr>
          <a:xfrm>
            <a:off x="10106025" y="3295650"/>
            <a:ext cx="514350" cy="5143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36DC1CF4-4EA9-4F9F-8F58-8C085B40DA93}"/>
              </a:ext>
            </a:extLst>
          </p:cNvPr>
          <p:cNvSpPr>
            <a:spLocks noGrp="1"/>
          </p:cNvSpPr>
          <p:nvPr/>
        </p:nvSpPr>
        <p:spPr>
          <a:xfrm>
            <a:off x="10648950" y="3295650"/>
            <a:ext cx="514350" cy="514350"/>
          </a:xfrm>
          <a:prstGeom prst="rect">
            <a:avLst/>
          </a:prstGeom>
          <a:solidFill>
            <a:srgbClr val="285B58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AFF7B8AE-9AC7-4347-A698-4D3A3D2FCC23}"/>
              </a:ext>
            </a:extLst>
          </p:cNvPr>
          <p:cNvSpPr>
            <a:spLocks noGrp="1"/>
          </p:cNvSpPr>
          <p:nvPr/>
        </p:nvSpPr>
        <p:spPr>
          <a:xfrm>
            <a:off x="704850" y="4857750"/>
            <a:ext cx="695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Gabriel Alvise Schenorberger · Gustavo Augusto Costa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BFEA2379-84FB-4A6C-A53E-AD9B852A8AAD}"/>
              </a:ext>
            </a:extLst>
          </p:cNvPr>
          <p:cNvSpPr>
            <a:spLocks noGrp="1"/>
          </p:cNvSpPr>
          <p:nvPr/>
        </p:nvSpPr>
        <p:spPr>
          <a:xfrm>
            <a:off x="704850" y="5191125"/>
            <a:ext cx="695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João Gabriel Gnoatto · Pedro Henrique Honório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3F7811F0-70A8-498D-A928-219789538C53}"/>
              </a:ext>
            </a:extLst>
          </p:cNvPr>
          <p:cNvSpPr>
            <a:spLocks noGrp="1"/>
          </p:cNvSpPr>
          <p:nvPr/>
        </p:nvSpPr>
        <p:spPr>
          <a:xfrm>
            <a:off x="704850" y="5924550"/>
            <a:ext cx="695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91AAA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1AAAE"/>
                </a:solidFill>
                <a:latin typeface="Arial"/>
                <a:ea typeface="Arial"/>
                <a:cs typeface="Arial"/>
              </a:rPr>
              <a:t>Engenharia de Software · FAG</a:t>
            </a:r>
          </a:p>
        </p:txBody>
      </p:sp>
    </p:spTree>
    <p:extLst>
      <p:ext uri="{BB962C8B-B14F-4D97-AF65-F5344CB8AC3E}">
        <p14:creationId xmlns:p14="http://schemas.microsoft.com/office/powerpoint/2010/main" val="2025059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tângulo 37">
            <a:extLst>
              <a:ext uri="{FF2B5EF4-FFF2-40B4-BE49-F238E27FC236}">
                <a16:creationId xmlns:a16="http://schemas.microsoft.com/office/drawing/2014/main" id="{4B1737FE-5EAF-4F4D-8469-224BDDFAA3DF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O problema: encontrar a saída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71C53BE-EA4B-496B-8699-578C3CB3AAA5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EFD0146-8ED1-43CA-B9A2-8AE9B081C0B0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991316E-79D4-41E9-B4F3-C936E15C2869}"/>
              </a:ext>
            </a:extLst>
          </p:cNvPr>
          <p:cNvSpPr>
            <a:spLocks noGrp="1"/>
          </p:cNvSpPr>
          <p:nvPr/>
        </p:nvSpPr>
        <p:spPr>
          <a:xfrm>
            <a:off x="914400" y="1571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7FE8FF3-2511-4E16-8761-A36B8E3EACE5}"/>
              </a:ext>
            </a:extLst>
          </p:cNvPr>
          <p:cNvSpPr>
            <a:spLocks noGrp="1"/>
          </p:cNvSpPr>
          <p:nvPr/>
        </p:nvSpPr>
        <p:spPr>
          <a:xfrm>
            <a:off x="914400" y="1571625"/>
            <a:ext cx="73342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160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216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1319841-A49D-4D18-B455-6B0BEA3B56A4}"/>
              </a:ext>
            </a:extLst>
          </p:cNvPr>
          <p:cNvSpPr>
            <a:spLocks noGrp="1"/>
          </p:cNvSpPr>
          <p:nvPr/>
        </p:nvSpPr>
        <p:spPr>
          <a:xfrm>
            <a:off x="1676400" y="1571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7D0FA65-42C9-471C-8E6F-0945523656FB}"/>
              </a:ext>
            </a:extLst>
          </p:cNvPr>
          <p:cNvSpPr>
            <a:spLocks noGrp="1"/>
          </p:cNvSpPr>
          <p:nvPr/>
        </p:nvSpPr>
        <p:spPr>
          <a:xfrm>
            <a:off x="2438400" y="1571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3AEB30A-D305-45AE-863B-9F78CF6EFEBB}"/>
              </a:ext>
            </a:extLst>
          </p:cNvPr>
          <p:cNvSpPr>
            <a:spLocks noGrp="1"/>
          </p:cNvSpPr>
          <p:nvPr/>
        </p:nvSpPr>
        <p:spPr>
          <a:xfrm>
            <a:off x="3200400" y="1571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D93E901-DD56-430C-985D-DA3472015DFD}"/>
              </a:ext>
            </a:extLst>
          </p:cNvPr>
          <p:cNvSpPr>
            <a:spLocks noGrp="1"/>
          </p:cNvSpPr>
          <p:nvPr/>
        </p:nvSpPr>
        <p:spPr>
          <a:xfrm>
            <a:off x="3962400" y="1571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F2E72E9-57A2-4710-A895-0E0DADAD66F0}"/>
              </a:ext>
            </a:extLst>
          </p:cNvPr>
          <p:cNvSpPr>
            <a:spLocks noGrp="1"/>
          </p:cNvSpPr>
          <p:nvPr/>
        </p:nvSpPr>
        <p:spPr>
          <a:xfrm>
            <a:off x="914400" y="2333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FA92AE3-D7AE-47AC-87CB-345D723185F8}"/>
              </a:ext>
            </a:extLst>
          </p:cNvPr>
          <p:cNvSpPr>
            <a:spLocks noGrp="1"/>
          </p:cNvSpPr>
          <p:nvPr/>
        </p:nvSpPr>
        <p:spPr>
          <a:xfrm>
            <a:off x="1676400" y="2333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2303B30-4CD4-44C7-8208-452A54479053}"/>
              </a:ext>
            </a:extLst>
          </p:cNvPr>
          <p:cNvSpPr>
            <a:spLocks noGrp="1"/>
          </p:cNvSpPr>
          <p:nvPr/>
        </p:nvSpPr>
        <p:spPr>
          <a:xfrm>
            <a:off x="2438400" y="2333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62D73C8D-FE5A-4673-96E9-6131BBA967FB}"/>
              </a:ext>
            </a:extLst>
          </p:cNvPr>
          <p:cNvSpPr>
            <a:spLocks noGrp="1"/>
          </p:cNvSpPr>
          <p:nvPr/>
        </p:nvSpPr>
        <p:spPr>
          <a:xfrm>
            <a:off x="3200400" y="2333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CE15DB7-E2F9-4EFB-99F2-1E758DE57E39}"/>
              </a:ext>
            </a:extLst>
          </p:cNvPr>
          <p:cNvSpPr>
            <a:spLocks noGrp="1"/>
          </p:cNvSpPr>
          <p:nvPr/>
        </p:nvSpPr>
        <p:spPr>
          <a:xfrm>
            <a:off x="3962400" y="2333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DC26DC9-0B40-4B88-932E-7155915D198D}"/>
              </a:ext>
            </a:extLst>
          </p:cNvPr>
          <p:cNvSpPr>
            <a:spLocks noGrp="1"/>
          </p:cNvSpPr>
          <p:nvPr/>
        </p:nvSpPr>
        <p:spPr>
          <a:xfrm>
            <a:off x="914400" y="3095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B34E2B9D-2E14-462A-97F4-78C44B854720}"/>
              </a:ext>
            </a:extLst>
          </p:cNvPr>
          <p:cNvSpPr>
            <a:spLocks noGrp="1"/>
          </p:cNvSpPr>
          <p:nvPr/>
        </p:nvSpPr>
        <p:spPr>
          <a:xfrm>
            <a:off x="1676400" y="3095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AD648ED-4CF3-4D79-975E-6A568F9B0726}"/>
              </a:ext>
            </a:extLst>
          </p:cNvPr>
          <p:cNvSpPr>
            <a:spLocks noGrp="1"/>
          </p:cNvSpPr>
          <p:nvPr/>
        </p:nvSpPr>
        <p:spPr>
          <a:xfrm>
            <a:off x="2438400" y="3095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36E9A2C-BBF0-4888-A3B8-0CBE2D63D278}"/>
              </a:ext>
            </a:extLst>
          </p:cNvPr>
          <p:cNvSpPr>
            <a:spLocks noGrp="1"/>
          </p:cNvSpPr>
          <p:nvPr/>
        </p:nvSpPr>
        <p:spPr>
          <a:xfrm>
            <a:off x="3200400" y="3095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CCA740E4-B874-46A8-BD53-1A7CC91B8FE3}"/>
              </a:ext>
            </a:extLst>
          </p:cNvPr>
          <p:cNvSpPr>
            <a:spLocks noGrp="1"/>
          </p:cNvSpPr>
          <p:nvPr/>
        </p:nvSpPr>
        <p:spPr>
          <a:xfrm>
            <a:off x="3962400" y="3095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26E1DF0-E552-4BAF-BEEE-1DB9297FDB3D}"/>
              </a:ext>
            </a:extLst>
          </p:cNvPr>
          <p:cNvSpPr>
            <a:spLocks noGrp="1"/>
          </p:cNvSpPr>
          <p:nvPr/>
        </p:nvSpPr>
        <p:spPr>
          <a:xfrm>
            <a:off x="914400" y="3857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5DB9734-29E2-49E1-9F30-B02D9D895E58}"/>
              </a:ext>
            </a:extLst>
          </p:cNvPr>
          <p:cNvSpPr>
            <a:spLocks noGrp="1"/>
          </p:cNvSpPr>
          <p:nvPr/>
        </p:nvSpPr>
        <p:spPr>
          <a:xfrm>
            <a:off x="1676400" y="3857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DDA16B9-9014-44F2-A21B-98F61C4C7107}"/>
              </a:ext>
            </a:extLst>
          </p:cNvPr>
          <p:cNvSpPr>
            <a:spLocks noGrp="1"/>
          </p:cNvSpPr>
          <p:nvPr/>
        </p:nvSpPr>
        <p:spPr>
          <a:xfrm>
            <a:off x="2438400" y="3857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85C12240-24A0-40BA-A601-2BDD1E48994C}"/>
              </a:ext>
            </a:extLst>
          </p:cNvPr>
          <p:cNvSpPr>
            <a:spLocks noGrp="1"/>
          </p:cNvSpPr>
          <p:nvPr/>
        </p:nvSpPr>
        <p:spPr>
          <a:xfrm>
            <a:off x="3200400" y="3857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363EDFF9-7779-4A95-BF85-2E6701ECC2B4}"/>
              </a:ext>
            </a:extLst>
          </p:cNvPr>
          <p:cNvSpPr>
            <a:spLocks noGrp="1"/>
          </p:cNvSpPr>
          <p:nvPr/>
        </p:nvSpPr>
        <p:spPr>
          <a:xfrm>
            <a:off x="3962400" y="3857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793C6C58-C1AE-448C-8CC5-D43355AAF457}"/>
              </a:ext>
            </a:extLst>
          </p:cNvPr>
          <p:cNvSpPr>
            <a:spLocks noGrp="1"/>
          </p:cNvSpPr>
          <p:nvPr/>
        </p:nvSpPr>
        <p:spPr>
          <a:xfrm>
            <a:off x="914400" y="4619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2535A5E5-1E53-46DC-AF7E-5E925E7330C9}"/>
              </a:ext>
            </a:extLst>
          </p:cNvPr>
          <p:cNvSpPr>
            <a:spLocks noGrp="1"/>
          </p:cNvSpPr>
          <p:nvPr/>
        </p:nvSpPr>
        <p:spPr>
          <a:xfrm>
            <a:off x="1676400" y="4619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44716CF5-6B1B-4763-A167-50F072593C11}"/>
              </a:ext>
            </a:extLst>
          </p:cNvPr>
          <p:cNvSpPr>
            <a:spLocks noGrp="1"/>
          </p:cNvSpPr>
          <p:nvPr/>
        </p:nvSpPr>
        <p:spPr>
          <a:xfrm>
            <a:off x="2438400" y="4619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9140503A-2C1A-45F5-A6E3-F9E79D8AF744}"/>
              </a:ext>
            </a:extLst>
          </p:cNvPr>
          <p:cNvSpPr>
            <a:spLocks noGrp="1"/>
          </p:cNvSpPr>
          <p:nvPr/>
        </p:nvSpPr>
        <p:spPr>
          <a:xfrm>
            <a:off x="3200400" y="4619625"/>
            <a:ext cx="733425" cy="733425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782FF40E-568B-46BB-AD76-8BA7383A4E31}"/>
              </a:ext>
            </a:extLst>
          </p:cNvPr>
          <p:cNvSpPr>
            <a:spLocks noGrp="1"/>
          </p:cNvSpPr>
          <p:nvPr/>
        </p:nvSpPr>
        <p:spPr>
          <a:xfrm>
            <a:off x="3962400" y="4619625"/>
            <a:ext cx="733425" cy="733425"/>
          </a:xfrm>
          <a:prstGeom prst="rect">
            <a:avLst/>
          </a:prstGeom>
          <a:solidFill>
            <a:srgbClr val="00B050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A52E038E-8A9E-4788-958D-67EE53E830FA}"/>
              </a:ext>
            </a:extLst>
          </p:cNvPr>
          <p:cNvSpPr>
            <a:spLocks noGrp="1"/>
          </p:cNvSpPr>
          <p:nvPr/>
        </p:nvSpPr>
        <p:spPr>
          <a:xfrm>
            <a:off x="3962400" y="4619625"/>
            <a:ext cx="733425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160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216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A88E34B1-853C-48C5-AB6B-6E8CE7D0E7B8}"/>
              </a:ext>
            </a:extLst>
          </p:cNvPr>
          <p:cNvSpPr>
            <a:spLocks noGrp="1"/>
          </p:cNvSpPr>
          <p:nvPr/>
        </p:nvSpPr>
        <p:spPr>
          <a:xfrm>
            <a:off x="5772150" y="16478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LABIRINTO 5 × 5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957D38CC-F923-446E-A2B3-904946C598C6}"/>
              </a:ext>
            </a:extLst>
          </p:cNvPr>
          <p:cNvSpPr>
            <a:spLocks noGrp="1"/>
          </p:cNvSpPr>
          <p:nvPr/>
        </p:nvSpPr>
        <p:spPr>
          <a:xfrm>
            <a:off x="5772150" y="2019300"/>
            <a:ext cx="4762500" cy="28575"/>
          </a:xfrm>
          <a:prstGeom prst="rect">
            <a:avLst/>
          </a:prstGeom>
          <a:solidFill>
            <a:srgbClr val="17242B"/>
          </a:solidFill>
          <a:ln w="0">
            <a:noFill/>
            <a:prstDash val="solid"/>
          </a:ln>
        </p:spPr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84B4BE69-EB66-4F0F-A76E-88FE915D6030}"/>
              </a:ext>
            </a:extLst>
          </p:cNvPr>
          <p:cNvSpPr>
            <a:spLocks noGrp="1"/>
          </p:cNvSpPr>
          <p:nvPr/>
        </p:nvSpPr>
        <p:spPr>
          <a:xfrm>
            <a:off x="5772150" y="2324100"/>
            <a:ext cx="476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Início  (0,0)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DB3F59EF-FC58-4EC8-BC3D-2C16D2C0E13D}"/>
              </a:ext>
            </a:extLst>
          </p:cNvPr>
          <p:cNvSpPr>
            <a:spLocks noGrp="1"/>
          </p:cNvSpPr>
          <p:nvPr/>
        </p:nvSpPr>
        <p:spPr>
          <a:xfrm>
            <a:off x="5772150" y="2952750"/>
            <a:ext cx="476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Saída  (4,4)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60DA03C0-6162-4EF8-BAB2-448D066C7745}"/>
              </a:ext>
            </a:extLst>
          </p:cNvPr>
          <p:cNvSpPr>
            <a:spLocks noGrp="1"/>
          </p:cNvSpPr>
          <p:nvPr/>
        </p:nvSpPr>
        <p:spPr>
          <a:xfrm>
            <a:off x="6010275" y="3596217"/>
            <a:ext cx="476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1 = </a:t>
            </a:r>
            <a:r>
              <a:rPr sz="2025" b="0" dirty="0" err="1">
                <a:solidFill>
                  <a:srgbClr val="17242B"/>
                </a:solidFill>
                <a:latin typeface="Arial"/>
                <a:ea typeface="Arial"/>
                <a:cs typeface="Arial"/>
              </a:rPr>
              <a:t>caminho</a:t>
            </a:r>
            <a:r>
              <a:rPr sz="2025" b="0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 livre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7F751583-3B79-46BE-8734-B0C4D64EE09A}"/>
              </a:ext>
            </a:extLst>
          </p:cNvPr>
          <p:cNvSpPr>
            <a:spLocks noGrp="1"/>
          </p:cNvSpPr>
          <p:nvPr/>
        </p:nvSpPr>
        <p:spPr>
          <a:xfrm>
            <a:off x="5944129" y="4207933"/>
            <a:ext cx="4762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0 </a:t>
            </a:r>
            <a:r>
              <a:rPr lang="pt-BR" sz="2025" b="0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= </a:t>
            </a:r>
            <a:r>
              <a:rPr sz="2025" b="0" dirty="0" err="1">
                <a:solidFill>
                  <a:srgbClr val="17242B"/>
                </a:solidFill>
                <a:latin typeface="Arial"/>
                <a:ea typeface="Arial"/>
                <a:cs typeface="Arial"/>
              </a:rPr>
              <a:t>parede</a:t>
            </a:r>
            <a:endParaRPr sz="2025" b="0" dirty="0">
              <a:solidFill>
                <a:srgbClr val="1724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D817AF7C-9070-4CA1-B483-9A5D520AB0DA}"/>
              </a:ext>
            </a:extLst>
          </p:cNvPr>
          <p:cNvSpPr>
            <a:spLocks noGrp="1"/>
          </p:cNvSpPr>
          <p:nvPr/>
        </p:nvSpPr>
        <p:spPr>
          <a:xfrm>
            <a:off x="5772150" y="5143500"/>
            <a:ext cx="5238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Movimentos: cima, baixo, esquerda e direita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FB9039ED-1D28-0288-79F1-1352D6447C3A}"/>
              </a:ext>
            </a:extLst>
          </p:cNvPr>
          <p:cNvSpPr/>
          <p:nvPr/>
        </p:nvSpPr>
        <p:spPr>
          <a:xfrm>
            <a:off x="5772150" y="3717925"/>
            <a:ext cx="343959" cy="3429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E42F86A5-ED12-D4E7-43D2-D58EB91AD09E}"/>
              </a:ext>
            </a:extLst>
          </p:cNvPr>
          <p:cNvSpPr/>
          <p:nvPr/>
        </p:nvSpPr>
        <p:spPr>
          <a:xfrm>
            <a:off x="5772150" y="4343400"/>
            <a:ext cx="343959" cy="342900"/>
          </a:xfrm>
          <a:prstGeom prst="rect">
            <a:avLst/>
          </a:prstGeom>
          <a:solidFill>
            <a:srgbClr val="21303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2968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34170D24-DAA4-4236-8B43-62BA7F83F8C9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Duas estratégias de exploração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71272C8-72D2-4803-8E9C-CCD018EC3F71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5CF9ECF-1AC9-491A-AFBB-115AC46CEB5C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D47D94-D4B0-4919-B05B-97AA194BFA08}"/>
              </a:ext>
            </a:extLst>
          </p:cNvPr>
          <p:cNvSpPr>
            <a:spLocks noGrp="1"/>
          </p:cNvSpPr>
          <p:nvPr/>
        </p:nvSpPr>
        <p:spPr>
          <a:xfrm>
            <a:off x="762000" y="13811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DFS · Busca em Profundidade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3C6D04A-B849-432F-8EEE-0AD37FB631EA}"/>
              </a:ext>
            </a:extLst>
          </p:cNvPr>
          <p:cNvSpPr>
            <a:spLocks noGrp="1"/>
          </p:cNvSpPr>
          <p:nvPr/>
        </p:nvSpPr>
        <p:spPr>
          <a:xfrm>
            <a:off x="762000" y="1752600"/>
            <a:ext cx="4953000" cy="28575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704D311-5362-403D-84DB-701A57D2EF2D}"/>
              </a:ext>
            </a:extLst>
          </p:cNvPr>
          <p:cNvSpPr>
            <a:spLocks noGrp="1"/>
          </p:cNvSpPr>
          <p:nvPr/>
        </p:nvSpPr>
        <p:spPr>
          <a:xfrm>
            <a:off x="6477000" y="13811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BFS · Busca em Largura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0733E22-C922-44BC-85E1-EB6EED609C69}"/>
              </a:ext>
            </a:extLst>
          </p:cNvPr>
          <p:cNvSpPr>
            <a:spLocks noGrp="1"/>
          </p:cNvSpPr>
          <p:nvPr/>
        </p:nvSpPr>
        <p:spPr>
          <a:xfrm>
            <a:off x="6477000" y="1752600"/>
            <a:ext cx="4953000" cy="28575"/>
          </a:xfrm>
          <a:prstGeom prst="rect">
            <a:avLst/>
          </a:prstGeom>
          <a:solidFill>
            <a:srgbClr val="C97343"/>
          </a:solidFill>
          <a:ln w="0">
            <a:noFill/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621BE6F-2AA2-48E9-BF48-DE51709A54A3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4953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PILHA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14548CC-4167-4025-90BA-DE8CD9B69E60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4953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FILA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3556132-AABB-40B0-934F-76374E0323C8}"/>
              </a:ext>
            </a:extLst>
          </p:cNvPr>
          <p:cNvSpPr>
            <a:spLocks noGrp="1"/>
          </p:cNvSpPr>
          <p:nvPr/>
        </p:nvSpPr>
        <p:spPr>
          <a:xfrm>
            <a:off x="762000" y="28575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LIFO: sai o último que entrou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6548807-2FA2-4CB4-8042-73AAEAAD9381}"/>
              </a:ext>
            </a:extLst>
          </p:cNvPr>
          <p:cNvSpPr>
            <a:spLocks noGrp="1"/>
          </p:cNvSpPr>
          <p:nvPr/>
        </p:nvSpPr>
        <p:spPr>
          <a:xfrm>
            <a:off x="6477000" y="28575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FIFO: sai o primeiro que entrou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1A8432E-3863-44EB-87D1-DDC20D3E6F8F}"/>
              </a:ext>
            </a:extLst>
          </p:cNvPr>
          <p:cNvSpPr>
            <a:spLocks noGrp="1"/>
          </p:cNvSpPr>
          <p:nvPr/>
        </p:nvSpPr>
        <p:spPr>
          <a:xfrm>
            <a:off x="762000" y="3886200"/>
            <a:ext cx="47625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Segue um caminho até o fim.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81D036B2-5DDE-4C02-A490-11CFF7B5254D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47625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Depois tenta outra alternativa.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9480683-8735-4537-AD68-A1DE917F5C61}"/>
              </a:ext>
            </a:extLst>
          </p:cNvPr>
          <p:cNvSpPr>
            <a:spLocks noGrp="1"/>
          </p:cNvSpPr>
          <p:nvPr/>
        </p:nvSpPr>
        <p:spPr>
          <a:xfrm>
            <a:off x="6477000" y="3886200"/>
            <a:ext cx="47625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Avança por níveis.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FAA93CC-977F-41C0-8E4D-070E75C5BE0F}"/>
              </a:ext>
            </a:extLst>
          </p:cNvPr>
          <p:cNvSpPr>
            <a:spLocks noGrp="1"/>
          </p:cNvSpPr>
          <p:nvPr/>
        </p:nvSpPr>
        <p:spPr>
          <a:xfrm>
            <a:off x="6477000" y="4391025"/>
            <a:ext cx="47625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Testa primeiro os mais próximos.</a:t>
            </a:r>
          </a:p>
        </p:txBody>
      </p:sp>
    </p:spTree>
    <p:extLst>
      <p:ext uri="{BB962C8B-B14F-4D97-AF65-F5344CB8AC3E}">
        <p14:creationId xmlns:p14="http://schemas.microsoft.com/office/powerpoint/2010/main" val="188848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tângulo 43">
            <a:extLst>
              <a:ext uri="{FF2B5EF4-FFF2-40B4-BE49-F238E27FC236}">
                <a16:creationId xmlns:a16="http://schemas.microsoft.com/office/drawing/2014/main" id="{F89261C7-1871-4F09-9821-819A8C5BD1D8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DFS: </a:t>
            </a:r>
            <a:r>
              <a:rPr lang="pt-BR" sz="2700" b="1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Busca em Profundidade</a:t>
            </a:r>
            <a:endParaRPr sz="2700" b="1" dirty="0">
              <a:solidFill>
                <a:srgbClr val="1724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F44823A3-3CD2-4D31-BAD8-CA26FB8AA31D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B031365-B179-4378-B11F-01293293CB0D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7381FEC-BBAB-412C-A753-1BA8C822882D}"/>
              </a:ext>
            </a:extLst>
          </p:cNvPr>
          <p:cNvSpPr>
            <a:spLocks noGrp="1"/>
          </p:cNvSpPr>
          <p:nvPr/>
        </p:nvSpPr>
        <p:spPr>
          <a:xfrm>
            <a:off x="990600" y="1666875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F6FD6FB-30DF-4312-B030-1E0207E007EF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945595C-F29A-48EC-91F3-D2D755C036FF}"/>
              </a:ext>
            </a:extLst>
          </p:cNvPr>
          <p:cNvSpPr>
            <a:spLocks noGrp="1"/>
          </p:cNvSpPr>
          <p:nvPr/>
        </p:nvSpPr>
        <p:spPr>
          <a:xfrm>
            <a:off x="1724025" y="16668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919ADA4-0701-4920-AD5C-371B2DFC4856}"/>
              </a:ext>
            </a:extLst>
          </p:cNvPr>
          <p:cNvSpPr>
            <a:spLocks noGrp="1"/>
          </p:cNvSpPr>
          <p:nvPr/>
        </p:nvSpPr>
        <p:spPr>
          <a:xfrm>
            <a:off x="2457450" y="16668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57768DA-6BD3-4939-9063-58B830287CD2}"/>
              </a:ext>
            </a:extLst>
          </p:cNvPr>
          <p:cNvSpPr>
            <a:spLocks noGrp="1"/>
          </p:cNvSpPr>
          <p:nvPr/>
        </p:nvSpPr>
        <p:spPr>
          <a:xfrm>
            <a:off x="3190875" y="16668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A75466B3-5CF0-40B3-BED0-B56326F83677}"/>
              </a:ext>
            </a:extLst>
          </p:cNvPr>
          <p:cNvSpPr>
            <a:spLocks noGrp="1"/>
          </p:cNvSpPr>
          <p:nvPr/>
        </p:nvSpPr>
        <p:spPr>
          <a:xfrm>
            <a:off x="3924300" y="16668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26DA7A6-AF7D-4735-A276-AABA5FFB7B66}"/>
              </a:ext>
            </a:extLst>
          </p:cNvPr>
          <p:cNvSpPr>
            <a:spLocks noGrp="1"/>
          </p:cNvSpPr>
          <p:nvPr/>
        </p:nvSpPr>
        <p:spPr>
          <a:xfrm>
            <a:off x="990600" y="2400300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368D8BC-1EAC-416A-93C6-796118C547F8}"/>
              </a:ext>
            </a:extLst>
          </p:cNvPr>
          <p:cNvSpPr>
            <a:spLocks noGrp="1"/>
          </p:cNvSpPr>
          <p:nvPr/>
        </p:nvSpPr>
        <p:spPr>
          <a:xfrm>
            <a:off x="990600" y="241935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A0F5E9D8-34B4-49E4-A71C-44D2F326229C}"/>
              </a:ext>
            </a:extLst>
          </p:cNvPr>
          <p:cNvSpPr>
            <a:spLocks noGrp="1"/>
          </p:cNvSpPr>
          <p:nvPr/>
        </p:nvSpPr>
        <p:spPr>
          <a:xfrm>
            <a:off x="1724025" y="2400300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6973A767-797C-4663-B13F-9337E60C0327}"/>
              </a:ext>
            </a:extLst>
          </p:cNvPr>
          <p:cNvSpPr>
            <a:spLocks noGrp="1"/>
          </p:cNvSpPr>
          <p:nvPr/>
        </p:nvSpPr>
        <p:spPr>
          <a:xfrm>
            <a:off x="1724025" y="241935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F22B878-B4C8-4B48-AE57-EB9458A9FBA7}"/>
              </a:ext>
            </a:extLst>
          </p:cNvPr>
          <p:cNvSpPr>
            <a:spLocks noGrp="1"/>
          </p:cNvSpPr>
          <p:nvPr/>
        </p:nvSpPr>
        <p:spPr>
          <a:xfrm>
            <a:off x="2457450" y="2400300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32AA3C2-656B-4CA4-A5FD-3CE34D4997DE}"/>
              </a:ext>
            </a:extLst>
          </p:cNvPr>
          <p:cNvSpPr>
            <a:spLocks noGrp="1"/>
          </p:cNvSpPr>
          <p:nvPr/>
        </p:nvSpPr>
        <p:spPr>
          <a:xfrm>
            <a:off x="2457450" y="241935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D1594C9-E7BC-46ED-AA9E-89F7D600DE91}"/>
              </a:ext>
            </a:extLst>
          </p:cNvPr>
          <p:cNvSpPr>
            <a:spLocks noGrp="1"/>
          </p:cNvSpPr>
          <p:nvPr/>
        </p:nvSpPr>
        <p:spPr>
          <a:xfrm>
            <a:off x="3190875" y="2400300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E6C5581B-285B-48F9-AA47-1BDB77A4CED0}"/>
              </a:ext>
            </a:extLst>
          </p:cNvPr>
          <p:cNvSpPr>
            <a:spLocks noGrp="1"/>
          </p:cNvSpPr>
          <p:nvPr/>
        </p:nvSpPr>
        <p:spPr>
          <a:xfrm>
            <a:off x="3924300" y="2400300"/>
            <a:ext cx="704850" cy="70485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204B9229-5BAD-4CC3-98F5-9A1504FE0F5C}"/>
              </a:ext>
            </a:extLst>
          </p:cNvPr>
          <p:cNvSpPr>
            <a:spLocks noGrp="1"/>
          </p:cNvSpPr>
          <p:nvPr/>
        </p:nvSpPr>
        <p:spPr>
          <a:xfrm>
            <a:off x="990600" y="313372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3FEF1C76-D0BA-44B9-9E53-6BB166E42A97}"/>
              </a:ext>
            </a:extLst>
          </p:cNvPr>
          <p:cNvSpPr>
            <a:spLocks noGrp="1"/>
          </p:cNvSpPr>
          <p:nvPr/>
        </p:nvSpPr>
        <p:spPr>
          <a:xfrm>
            <a:off x="1724025" y="313372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8DC4787-5D25-415C-AE22-86580760D81C}"/>
              </a:ext>
            </a:extLst>
          </p:cNvPr>
          <p:cNvSpPr>
            <a:spLocks noGrp="1"/>
          </p:cNvSpPr>
          <p:nvPr/>
        </p:nvSpPr>
        <p:spPr>
          <a:xfrm>
            <a:off x="2457450" y="3133725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E69CAC7E-26DB-49C8-B644-CBC12A0ECA3E}"/>
              </a:ext>
            </a:extLst>
          </p:cNvPr>
          <p:cNvSpPr>
            <a:spLocks noGrp="1"/>
          </p:cNvSpPr>
          <p:nvPr/>
        </p:nvSpPr>
        <p:spPr>
          <a:xfrm>
            <a:off x="2457450" y="3152775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BC6B4842-DAA4-43B4-B769-AB4D48ED11D3}"/>
              </a:ext>
            </a:extLst>
          </p:cNvPr>
          <p:cNvSpPr>
            <a:spLocks noGrp="1"/>
          </p:cNvSpPr>
          <p:nvPr/>
        </p:nvSpPr>
        <p:spPr>
          <a:xfrm>
            <a:off x="3190875" y="313372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81165AB-6E14-432F-A10D-76763F0AF15F}"/>
              </a:ext>
            </a:extLst>
          </p:cNvPr>
          <p:cNvSpPr>
            <a:spLocks noGrp="1"/>
          </p:cNvSpPr>
          <p:nvPr/>
        </p:nvSpPr>
        <p:spPr>
          <a:xfrm>
            <a:off x="3924300" y="3133725"/>
            <a:ext cx="704850" cy="70485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30F09E98-AC91-4618-8BA1-D94D6E17D501}"/>
              </a:ext>
            </a:extLst>
          </p:cNvPr>
          <p:cNvSpPr>
            <a:spLocks noGrp="1"/>
          </p:cNvSpPr>
          <p:nvPr/>
        </p:nvSpPr>
        <p:spPr>
          <a:xfrm>
            <a:off x="990600" y="3867150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E1B5E44-D0F6-496E-976B-19B9BDB683C4}"/>
              </a:ext>
            </a:extLst>
          </p:cNvPr>
          <p:cNvSpPr>
            <a:spLocks noGrp="1"/>
          </p:cNvSpPr>
          <p:nvPr/>
        </p:nvSpPr>
        <p:spPr>
          <a:xfrm>
            <a:off x="1724025" y="3867150"/>
            <a:ext cx="704850" cy="70485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E0372565-1CD7-4BEB-822E-F06BE0122ED5}"/>
              </a:ext>
            </a:extLst>
          </p:cNvPr>
          <p:cNvSpPr>
            <a:spLocks noGrp="1"/>
          </p:cNvSpPr>
          <p:nvPr/>
        </p:nvSpPr>
        <p:spPr>
          <a:xfrm>
            <a:off x="2457450" y="3867150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AD244836-7EFD-484A-8598-59CE04848BCF}"/>
              </a:ext>
            </a:extLst>
          </p:cNvPr>
          <p:cNvSpPr>
            <a:spLocks noGrp="1"/>
          </p:cNvSpPr>
          <p:nvPr/>
        </p:nvSpPr>
        <p:spPr>
          <a:xfrm>
            <a:off x="2457450" y="388620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2CAC894B-9572-48DE-AEAC-9A51935D5CC5}"/>
              </a:ext>
            </a:extLst>
          </p:cNvPr>
          <p:cNvSpPr>
            <a:spLocks noGrp="1"/>
          </p:cNvSpPr>
          <p:nvPr/>
        </p:nvSpPr>
        <p:spPr>
          <a:xfrm>
            <a:off x="3190875" y="3867150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7298E197-8234-4469-864F-3EB59389695E}"/>
              </a:ext>
            </a:extLst>
          </p:cNvPr>
          <p:cNvSpPr>
            <a:spLocks noGrp="1"/>
          </p:cNvSpPr>
          <p:nvPr/>
        </p:nvSpPr>
        <p:spPr>
          <a:xfrm>
            <a:off x="3190875" y="388620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2F283C34-5964-4A44-858C-867848CD19BB}"/>
              </a:ext>
            </a:extLst>
          </p:cNvPr>
          <p:cNvSpPr>
            <a:spLocks noGrp="1"/>
          </p:cNvSpPr>
          <p:nvPr/>
        </p:nvSpPr>
        <p:spPr>
          <a:xfrm>
            <a:off x="3924300" y="3867150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4E58259C-F343-4C81-BA51-3EBAC2085CDE}"/>
              </a:ext>
            </a:extLst>
          </p:cNvPr>
          <p:cNvSpPr>
            <a:spLocks noGrp="1"/>
          </p:cNvSpPr>
          <p:nvPr/>
        </p:nvSpPr>
        <p:spPr>
          <a:xfrm>
            <a:off x="3924300" y="388620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8217FAE-13BA-408D-ADA1-AF0D0529563C}"/>
              </a:ext>
            </a:extLst>
          </p:cNvPr>
          <p:cNvSpPr>
            <a:spLocks noGrp="1"/>
          </p:cNvSpPr>
          <p:nvPr/>
        </p:nvSpPr>
        <p:spPr>
          <a:xfrm>
            <a:off x="990600" y="46005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46B6C38A-362E-4223-8510-7BCBB790618A}"/>
              </a:ext>
            </a:extLst>
          </p:cNvPr>
          <p:cNvSpPr>
            <a:spLocks noGrp="1"/>
          </p:cNvSpPr>
          <p:nvPr/>
        </p:nvSpPr>
        <p:spPr>
          <a:xfrm>
            <a:off x="1724025" y="46005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4922ADFF-5172-4383-8E79-C48BCFF2B48E}"/>
              </a:ext>
            </a:extLst>
          </p:cNvPr>
          <p:cNvSpPr>
            <a:spLocks noGrp="1"/>
          </p:cNvSpPr>
          <p:nvPr/>
        </p:nvSpPr>
        <p:spPr>
          <a:xfrm>
            <a:off x="2457450" y="46005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79C6FA40-FCF8-4338-8363-21D63F67D2A2}"/>
              </a:ext>
            </a:extLst>
          </p:cNvPr>
          <p:cNvSpPr>
            <a:spLocks noGrp="1"/>
          </p:cNvSpPr>
          <p:nvPr/>
        </p:nvSpPr>
        <p:spPr>
          <a:xfrm>
            <a:off x="3190875" y="46005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661EC334-C79D-4974-A547-2CBCCBF86110}"/>
              </a:ext>
            </a:extLst>
          </p:cNvPr>
          <p:cNvSpPr>
            <a:spLocks noGrp="1"/>
          </p:cNvSpPr>
          <p:nvPr/>
        </p:nvSpPr>
        <p:spPr>
          <a:xfrm>
            <a:off x="3924300" y="4600575"/>
            <a:ext cx="704850" cy="70485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6C827EA9-3200-4C0F-B2C2-7D5354EB32C9}"/>
              </a:ext>
            </a:extLst>
          </p:cNvPr>
          <p:cNvSpPr>
            <a:spLocks noGrp="1"/>
          </p:cNvSpPr>
          <p:nvPr/>
        </p:nvSpPr>
        <p:spPr>
          <a:xfrm>
            <a:off x="3924300" y="4619625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300ED155-DBA9-4D6B-AB8C-80DECC5F85C9}"/>
              </a:ext>
            </a:extLst>
          </p:cNvPr>
          <p:cNvSpPr>
            <a:spLocks noGrp="1"/>
          </p:cNvSpPr>
          <p:nvPr/>
        </p:nvSpPr>
        <p:spPr>
          <a:xfrm>
            <a:off x="6096000" y="171450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PILHA · LIFO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D9126317-8C3C-4D2C-942C-577AD5581722}"/>
              </a:ext>
            </a:extLst>
          </p:cNvPr>
          <p:cNvSpPr>
            <a:spLocks noGrp="1"/>
          </p:cNvSpPr>
          <p:nvPr/>
        </p:nvSpPr>
        <p:spPr>
          <a:xfrm>
            <a:off x="6096000" y="2085975"/>
            <a:ext cx="4762500" cy="28575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42F67530-371E-47FF-B758-6DF9638BB360}"/>
              </a:ext>
            </a:extLst>
          </p:cNvPr>
          <p:cNvSpPr>
            <a:spLocks noGrp="1"/>
          </p:cNvSpPr>
          <p:nvPr/>
        </p:nvSpPr>
        <p:spPr>
          <a:xfrm>
            <a:off x="6096000" y="2419350"/>
            <a:ext cx="50958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1. Retira o último estado da pilha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D6F1C6FA-4BB1-45DD-9483-A72C224B7AFE}"/>
              </a:ext>
            </a:extLst>
          </p:cNvPr>
          <p:cNvSpPr>
            <a:spLocks noGrp="1"/>
          </p:cNvSpPr>
          <p:nvPr/>
        </p:nvSpPr>
        <p:spPr>
          <a:xfrm>
            <a:off x="6096000" y="3105150"/>
            <a:ext cx="50958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2. Marca a posição examinada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7208463D-74F6-4825-B661-00C7460A094F}"/>
              </a:ext>
            </a:extLst>
          </p:cNvPr>
          <p:cNvSpPr>
            <a:spLocks noGrp="1"/>
          </p:cNvSpPr>
          <p:nvPr/>
        </p:nvSpPr>
        <p:spPr>
          <a:xfrm>
            <a:off x="6096000" y="3790950"/>
            <a:ext cx="50958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3. Adiciona vizinhos ainda não visitados</a:t>
            </a:r>
          </a:p>
        </p:txBody>
      </p:sp>
      <p:sp>
        <p:nvSpPr>
          <p:cNvPr id="45" name="Explicação 4.1">
            <a:extLst>
              <a:ext uri="{FF2B5EF4-FFF2-40B4-BE49-F238E27FC236}">
                <a16:creationId xmlns:a16="http://schemas.microsoft.com/office/drawing/2014/main" id="{048B26CD-6207-46EF-9D42-F43AC75073C4}"/>
              </a:ext>
            </a:extLst>
          </p:cNvPr>
          <p:cNvSpPr>
            <a:spLocks noGrp="1"/>
          </p:cNvSpPr>
          <p:nvPr/>
        </p:nvSpPr>
        <p:spPr>
          <a:xfrm>
            <a:off x="6096000" y="4495800"/>
            <a:ext cx="5095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Segue um ramo até não poder avançar.</a:t>
            </a:r>
          </a:p>
        </p:txBody>
      </p:sp>
      <p:sp>
        <p:nvSpPr>
          <p:cNvPr id="46" name="Explicação 4.2">
            <a:extLst>
              <a:ext uri="{FF2B5EF4-FFF2-40B4-BE49-F238E27FC236}">
                <a16:creationId xmlns:a16="http://schemas.microsoft.com/office/drawing/2014/main" id="{0244A997-1FB8-4F43-AB6A-DB6CE6A8E1AD}"/>
              </a:ext>
            </a:extLst>
          </p:cNvPr>
          <p:cNvSpPr>
            <a:spLocks noGrp="1"/>
          </p:cNvSpPr>
          <p:nvPr/>
        </p:nvSpPr>
        <p:spPr>
          <a:xfrm>
            <a:off x="6096000" y="4791075"/>
            <a:ext cx="5095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Se trava, volta à última bifurcação.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C903C453-371A-40A6-A329-A031B1D44E6E}"/>
              </a:ext>
            </a:extLst>
          </p:cNvPr>
          <p:cNvSpPr>
            <a:spLocks noGrp="1"/>
          </p:cNvSpPr>
          <p:nvPr/>
        </p:nvSpPr>
        <p:spPr>
          <a:xfrm>
            <a:off x="6096000" y="5334000"/>
            <a:ext cx="495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950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Neste mapa, a DFS alcança a saída sem voltar.</a:t>
            </a:r>
          </a:p>
        </p:txBody>
      </p:sp>
    </p:spTree>
    <p:extLst>
      <p:ext uri="{BB962C8B-B14F-4D97-AF65-F5344CB8AC3E}">
        <p14:creationId xmlns:p14="http://schemas.microsoft.com/office/powerpoint/2010/main" val="857871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tângulo 45">
            <a:extLst>
              <a:ext uri="{FF2B5EF4-FFF2-40B4-BE49-F238E27FC236}">
                <a16:creationId xmlns:a16="http://schemas.microsoft.com/office/drawing/2014/main" id="{2707C319-FB08-4D9B-AA04-F11CAE94D55B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BFS: </a:t>
            </a:r>
            <a:r>
              <a:rPr lang="pt-BR" sz="2700" b="1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Busca em Largura - </a:t>
            </a:r>
            <a:r>
              <a:rPr sz="2700" b="1" dirty="0" err="1">
                <a:solidFill>
                  <a:srgbClr val="17242B"/>
                </a:solidFill>
                <a:latin typeface="Arial"/>
                <a:ea typeface="Arial"/>
                <a:cs typeface="Arial"/>
              </a:rPr>
              <a:t>expansão</a:t>
            </a:r>
            <a:r>
              <a:rPr sz="2700" b="1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42B"/>
                </a:solidFill>
                <a:latin typeface="Arial"/>
                <a:ea typeface="Arial"/>
                <a:cs typeface="Arial"/>
              </a:rPr>
              <a:t>por</a:t>
            </a:r>
            <a:r>
              <a:rPr sz="2700" b="1" dirty="0">
                <a:solidFill>
                  <a:srgbClr val="17242B"/>
                </a:solidFill>
                <a:latin typeface="Arial"/>
                <a:ea typeface="Arial"/>
                <a:cs typeface="Arial"/>
              </a:rPr>
              <a:t> </a:t>
            </a:r>
            <a:r>
              <a:rPr sz="2700" b="1" dirty="0" err="1">
                <a:solidFill>
                  <a:srgbClr val="17242B"/>
                </a:solidFill>
                <a:latin typeface="Arial"/>
                <a:ea typeface="Arial"/>
                <a:cs typeface="Arial"/>
              </a:rPr>
              <a:t>níveis</a:t>
            </a:r>
            <a:endParaRPr sz="2700" b="1" dirty="0">
              <a:solidFill>
                <a:srgbClr val="17242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85FAA00-461F-4C11-A2FB-324FC6BD4BC1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2A38BA5-B69D-4FD9-911F-9E8235FB7D5E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61EE78A-99D0-4A22-9FF4-2E4B13CE7C57}"/>
              </a:ext>
            </a:extLst>
          </p:cNvPr>
          <p:cNvSpPr>
            <a:spLocks noGrp="1"/>
          </p:cNvSpPr>
          <p:nvPr/>
        </p:nvSpPr>
        <p:spPr>
          <a:xfrm>
            <a:off x="990600" y="1666875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4B31E55-E64A-48E7-9EC2-6E73A1948891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7AE36C0-E81D-45D3-9B8A-A18114FB0797}"/>
              </a:ext>
            </a:extLst>
          </p:cNvPr>
          <p:cNvSpPr>
            <a:spLocks noGrp="1"/>
          </p:cNvSpPr>
          <p:nvPr/>
        </p:nvSpPr>
        <p:spPr>
          <a:xfrm>
            <a:off x="1724025" y="16668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D27423B-083D-44F6-8F0F-9B2F9772EF28}"/>
              </a:ext>
            </a:extLst>
          </p:cNvPr>
          <p:cNvSpPr>
            <a:spLocks noGrp="1"/>
          </p:cNvSpPr>
          <p:nvPr/>
        </p:nvSpPr>
        <p:spPr>
          <a:xfrm>
            <a:off x="2457450" y="16668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B42E820-2C8B-4C40-8968-DA29DDF4B65B}"/>
              </a:ext>
            </a:extLst>
          </p:cNvPr>
          <p:cNvSpPr>
            <a:spLocks noGrp="1"/>
          </p:cNvSpPr>
          <p:nvPr/>
        </p:nvSpPr>
        <p:spPr>
          <a:xfrm>
            <a:off x="3190875" y="16668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1C8BBCC7-373B-46CD-810B-64501EF46D46}"/>
              </a:ext>
            </a:extLst>
          </p:cNvPr>
          <p:cNvSpPr>
            <a:spLocks noGrp="1"/>
          </p:cNvSpPr>
          <p:nvPr/>
        </p:nvSpPr>
        <p:spPr>
          <a:xfrm>
            <a:off x="3924300" y="16668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64B0F01-8472-4CA2-A92E-7C158562C420}"/>
              </a:ext>
            </a:extLst>
          </p:cNvPr>
          <p:cNvSpPr>
            <a:spLocks noGrp="1"/>
          </p:cNvSpPr>
          <p:nvPr/>
        </p:nvSpPr>
        <p:spPr>
          <a:xfrm>
            <a:off x="990600" y="2400300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0BDC516B-44F2-4DBA-A40F-0705057C916F}"/>
              </a:ext>
            </a:extLst>
          </p:cNvPr>
          <p:cNvSpPr>
            <a:spLocks noGrp="1"/>
          </p:cNvSpPr>
          <p:nvPr/>
        </p:nvSpPr>
        <p:spPr>
          <a:xfrm>
            <a:off x="990600" y="241935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59AEBE9-E65C-45DB-956D-56F200F99D74}"/>
              </a:ext>
            </a:extLst>
          </p:cNvPr>
          <p:cNvSpPr>
            <a:spLocks noGrp="1"/>
          </p:cNvSpPr>
          <p:nvPr/>
        </p:nvSpPr>
        <p:spPr>
          <a:xfrm>
            <a:off x="1724025" y="2400300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266E12BF-B8E9-40EC-84A4-FD73DCB3C6B5}"/>
              </a:ext>
            </a:extLst>
          </p:cNvPr>
          <p:cNvSpPr>
            <a:spLocks noGrp="1"/>
          </p:cNvSpPr>
          <p:nvPr/>
        </p:nvSpPr>
        <p:spPr>
          <a:xfrm>
            <a:off x="1724025" y="241935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D55F6C1-AFE4-407C-AE8C-0F81977114CF}"/>
              </a:ext>
            </a:extLst>
          </p:cNvPr>
          <p:cNvSpPr>
            <a:spLocks noGrp="1"/>
          </p:cNvSpPr>
          <p:nvPr/>
        </p:nvSpPr>
        <p:spPr>
          <a:xfrm>
            <a:off x="2457450" y="2400300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3017FFE-BECE-470E-AA54-09BAF460DC6A}"/>
              </a:ext>
            </a:extLst>
          </p:cNvPr>
          <p:cNvSpPr>
            <a:spLocks noGrp="1"/>
          </p:cNvSpPr>
          <p:nvPr/>
        </p:nvSpPr>
        <p:spPr>
          <a:xfrm>
            <a:off x="2457450" y="241935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5240342F-20BF-47F6-8C04-1C9F0B557710}"/>
              </a:ext>
            </a:extLst>
          </p:cNvPr>
          <p:cNvSpPr>
            <a:spLocks noGrp="1"/>
          </p:cNvSpPr>
          <p:nvPr/>
        </p:nvSpPr>
        <p:spPr>
          <a:xfrm>
            <a:off x="3190875" y="2400300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6D7C5A8-EF2D-4E35-85B4-644AD327B9E6}"/>
              </a:ext>
            </a:extLst>
          </p:cNvPr>
          <p:cNvSpPr>
            <a:spLocks noGrp="1"/>
          </p:cNvSpPr>
          <p:nvPr/>
        </p:nvSpPr>
        <p:spPr>
          <a:xfrm>
            <a:off x="3924300" y="2400300"/>
            <a:ext cx="704850" cy="70485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1553E4FA-7C05-456E-A2D7-561F2402E55E}"/>
              </a:ext>
            </a:extLst>
          </p:cNvPr>
          <p:cNvSpPr>
            <a:spLocks noGrp="1"/>
          </p:cNvSpPr>
          <p:nvPr/>
        </p:nvSpPr>
        <p:spPr>
          <a:xfrm>
            <a:off x="990600" y="313372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F68005C1-9E58-49DF-BB4B-C77F3AA16CE0}"/>
              </a:ext>
            </a:extLst>
          </p:cNvPr>
          <p:cNvSpPr>
            <a:spLocks noGrp="1"/>
          </p:cNvSpPr>
          <p:nvPr/>
        </p:nvSpPr>
        <p:spPr>
          <a:xfrm>
            <a:off x="1724025" y="313372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C689B37B-390F-4A7C-BC9D-77F1A0E52865}"/>
              </a:ext>
            </a:extLst>
          </p:cNvPr>
          <p:cNvSpPr>
            <a:spLocks noGrp="1"/>
          </p:cNvSpPr>
          <p:nvPr/>
        </p:nvSpPr>
        <p:spPr>
          <a:xfrm>
            <a:off x="2457450" y="3133725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BB58773-44DF-4749-BA67-795FA94FD30C}"/>
              </a:ext>
            </a:extLst>
          </p:cNvPr>
          <p:cNvSpPr>
            <a:spLocks noGrp="1"/>
          </p:cNvSpPr>
          <p:nvPr/>
        </p:nvSpPr>
        <p:spPr>
          <a:xfrm>
            <a:off x="2457450" y="3152775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D10DEA7D-E33A-4E3F-954B-2278B9961527}"/>
              </a:ext>
            </a:extLst>
          </p:cNvPr>
          <p:cNvSpPr>
            <a:spLocks noGrp="1"/>
          </p:cNvSpPr>
          <p:nvPr/>
        </p:nvSpPr>
        <p:spPr>
          <a:xfrm>
            <a:off x="3190875" y="313372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1853D34D-B196-4B4A-8E7F-FA56715EB57E}"/>
              </a:ext>
            </a:extLst>
          </p:cNvPr>
          <p:cNvSpPr>
            <a:spLocks noGrp="1"/>
          </p:cNvSpPr>
          <p:nvPr/>
        </p:nvSpPr>
        <p:spPr>
          <a:xfrm>
            <a:off x="3924300" y="3133725"/>
            <a:ext cx="704850" cy="704850"/>
          </a:xfrm>
          <a:prstGeom prst="rect">
            <a:avLst/>
          </a:prstGeom>
          <a:solidFill>
            <a:srgbClr val="F7C79F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C8F28539-61A3-4DC2-A089-9F7DE4F6E0ED}"/>
              </a:ext>
            </a:extLst>
          </p:cNvPr>
          <p:cNvSpPr>
            <a:spLocks noGrp="1"/>
          </p:cNvSpPr>
          <p:nvPr/>
        </p:nvSpPr>
        <p:spPr>
          <a:xfrm>
            <a:off x="3924300" y="3152775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4667E7DC-880C-468C-B531-B71D5796B4B9}"/>
              </a:ext>
            </a:extLst>
          </p:cNvPr>
          <p:cNvSpPr>
            <a:spLocks noGrp="1"/>
          </p:cNvSpPr>
          <p:nvPr/>
        </p:nvSpPr>
        <p:spPr>
          <a:xfrm>
            <a:off x="990600" y="3867150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9E1BE7C3-976D-46D3-AD72-8FA6E965F83C}"/>
              </a:ext>
            </a:extLst>
          </p:cNvPr>
          <p:cNvSpPr>
            <a:spLocks noGrp="1"/>
          </p:cNvSpPr>
          <p:nvPr/>
        </p:nvSpPr>
        <p:spPr>
          <a:xfrm>
            <a:off x="1724025" y="3867150"/>
            <a:ext cx="704850" cy="704850"/>
          </a:xfrm>
          <a:prstGeom prst="rect">
            <a:avLst/>
          </a:prstGeom>
          <a:solidFill>
            <a:srgbClr val="F7C79F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1C1D0267-AEBB-4359-8671-950E984A4ECF}"/>
              </a:ext>
            </a:extLst>
          </p:cNvPr>
          <p:cNvSpPr>
            <a:spLocks noGrp="1"/>
          </p:cNvSpPr>
          <p:nvPr/>
        </p:nvSpPr>
        <p:spPr>
          <a:xfrm>
            <a:off x="1724025" y="388620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85BECB05-23C3-4249-A564-3810C0F24562}"/>
              </a:ext>
            </a:extLst>
          </p:cNvPr>
          <p:cNvSpPr>
            <a:spLocks noGrp="1"/>
          </p:cNvSpPr>
          <p:nvPr/>
        </p:nvSpPr>
        <p:spPr>
          <a:xfrm>
            <a:off x="2457450" y="3867150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0987F4AE-559B-45A1-91C6-E078ACA5A0B2}"/>
              </a:ext>
            </a:extLst>
          </p:cNvPr>
          <p:cNvSpPr>
            <a:spLocks noGrp="1"/>
          </p:cNvSpPr>
          <p:nvPr/>
        </p:nvSpPr>
        <p:spPr>
          <a:xfrm>
            <a:off x="2457450" y="388620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34D6ED8F-AFD5-4C0A-BC0F-FE08ABFADEAE}"/>
              </a:ext>
            </a:extLst>
          </p:cNvPr>
          <p:cNvSpPr>
            <a:spLocks noGrp="1"/>
          </p:cNvSpPr>
          <p:nvPr/>
        </p:nvSpPr>
        <p:spPr>
          <a:xfrm>
            <a:off x="3190875" y="3867150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9C0332EC-5FDB-4AE6-BD9F-3115342AEED4}"/>
              </a:ext>
            </a:extLst>
          </p:cNvPr>
          <p:cNvSpPr>
            <a:spLocks noGrp="1"/>
          </p:cNvSpPr>
          <p:nvPr/>
        </p:nvSpPr>
        <p:spPr>
          <a:xfrm>
            <a:off x="3190875" y="388620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AFC0FC85-3203-4D94-895C-DFA883BA5183}"/>
              </a:ext>
            </a:extLst>
          </p:cNvPr>
          <p:cNvSpPr>
            <a:spLocks noGrp="1"/>
          </p:cNvSpPr>
          <p:nvPr/>
        </p:nvSpPr>
        <p:spPr>
          <a:xfrm>
            <a:off x="3924300" y="3867150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5B18FC12-ADEE-4897-ABFF-726D7ED39E6C}"/>
              </a:ext>
            </a:extLst>
          </p:cNvPr>
          <p:cNvSpPr>
            <a:spLocks noGrp="1"/>
          </p:cNvSpPr>
          <p:nvPr/>
        </p:nvSpPr>
        <p:spPr>
          <a:xfrm>
            <a:off x="3924300" y="3886200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B76FDE5E-AE83-467F-B084-AAC09B0CFABE}"/>
              </a:ext>
            </a:extLst>
          </p:cNvPr>
          <p:cNvSpPr>
            <a:spLocks noGrp="1"/>
          </p:cNvSpPr>
          <p:nvPr/>
        </p:nvSpPr>
        <p:spPr>
          <a:xfrm>
            <a:off x="990600" y="46005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F00D31A5-4FD3-411C-9F4A-63551731E211}"/>
              </a:ext>
            </a:extLst>
          </p:cNvPr>
          <p:cNvSpPr>
            <a:spLocks noGrp="1"/>
          </p:cNvSpPr>
          <p:nvPr/>
        </p:nvSpPr>
        <p:spPr>
          <a:xfrm>
            <a:off x="1724025" y="46005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36D965E2-A4BF-4076-A727-688EFF68CD36}"/>
              </a:ext>
            </a:extLst>
          </p:cNvPr>
          <p:cNvSpPr>
            <a:spLocks noGrp="1"/>
          </p:cNvSpPr>
          <p:nvPr/>
        </p:nvSpPr>
        <p:spPr>
          <a:xfrm>
            <a:off x="2457450" y="46005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DF982CA0-C797-4119-8E64-F365CE94D37B}"/>
              </a:ext>
            </a:extLst>
          </p:cNvPr>
          <p:cNvSpPr>
            <a:spLocks noGrp="1"/>
          </p:cNvSpPr>
          <p:nvPr/>
        </p:nvSpPr>
        <p:spPr>
          <a:xfrm>
            <a:off x="3190875" y="4600575"/>
            <a:ext cx="704850" cy="70485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EBD5A600-8BEC-4E51-A6EE-26FC41189C2F}"/>
              </a:ext>
            </a:extLst>
          </p:cNvPr>
          <p:cNvSpPr>
            <a:spLocks noGrp="1"/>
          </p:cNvSpPr>
          <p:nvPr/>
        </p:nvSpPr>
        <p:spPr>
          <a:xfrm>
            <a:off x="3924300" y="4600575"/>
            <a:ext cx="704850" cy="70485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86A07256-0785-45BF-9B67-23924DDC261C}"/>
              </a:ext>
            </a:extLst>
          </p:cNvPr>
          <p:cNvSpPr>
            <a:spLocks noGrp="1"/>
          </p:cNvSpPr>
          <p:nvPr/>
        </p:nvSpPr>
        <p:spPr>
          <a:xfrm>
            <a:off x="3924300" y="4619625"/>
            <a:ext cx="7048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59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559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097EB21E-F3E3-4BD4-9548-EB1F24ADA643}"/>
              </a:ext>
            </a:extLst>
          </p:cNvPr>
          <p:cNvSpPr>
            <a:spLocks noGrp="1"/>
          </p:cNvSpPr>
          <p:nvPr/>
        </p:nvSpPr>
        <p:spPr>
          <a:xfrm>
            <a:off x="6096000" y="171450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FILA · FIFO</a:t>
            </a: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6838FC8D-6272-4458-BF26-68E15D08680C}"/>
              </a:ext>
            </a:extLst>
          </p:cNvPr>
          <p:cNvSpPr>
            <a:spLocks noGrp="1"/>
          </p:cNvSpPr>
          <p:nvPr/>
        </p:nvSpPr>
        <p:spPr>
          <a:xfrm>
            <a:off x="6096000" y="2085975"/>
            <a:ext cx="4762500" cy="28575"/>
          </a:xfrm>
          <a:prstGeom prst="rect">
            <a:avLst/>
          </a:prstGeom>
          <a:solidFill>
            <a:srgbClr val="C97343"/>
          </a:solidFill>
          <a:ln w="0">
            <a:noFill/>
            <a:prstDash val="solid"/>
          </a:ln>
        </p:spPr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47B70F2A-082B-471A-AA07-D079D30CD640}"/>
              </a:ext>
            </a:extLst>
          </p:cNvPr>
          <p:cNvSpPr>
            <a:spLocks noGrp="1"/>
          </p:cNvSpPr>
          <p:nvPr/>
        </p:nvSpPr>
        <p:spPr>
          <a:xfrm>
            <a:off x="6096000" y="2419350"/>
            <a:ext cx="50958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1. Retira o primeiro estado da fila</a:t>
            </a:r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33C0A338-F59E-4491-8A4F-2AA160D688F7}"/>
              </a:ext>
            </a:extLst>
          </p:cNvPr>
          <p:cNvSpPr>
            <a:spLocks noGrp="1"/>
          </p:cNvSpPr>
          <p:nvPr/>
        </p:nvSpPr>
        <p:spPr>
          <a:xfrm>
            <a:off x="6096000" y="3105150"/>
            <a:ext cx="50958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2. Testa os vizinhos livres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084B5E1-7782-4746-A877-BC6B0A24A505}"/>
              </a:ext>
            </a:extLst>
          </p:cNvPr>
          <p:cNvSpPr>
            <a:spLocks noGrp="1"/>
          </p:cNvSpPr>
          <p:nvPr/>
        </p:nvSpPr>
        <p:spPr>
          <a:xfrm>
            <a:off x="6096000" y="3790950"/>
            <a:ext cx="50958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3. Coloca novos estados no fim da fila</a:t>
            </a:r>
          </a:p>
        </p:txBody>
      </p:sp>
      <p:sp>
        <p:nvSpPr>
          <p:cNvPr id="47" name="Explicação 5.1">
            <a:extLst>
              <a:ext uri="{FF2B5EF4-FFF2-40B4-BE49-F238E27FC236}">
                <a16:creationId xmlns:a16="http://schemas.microsoft.com/office/drawing/2014/main" id="{FEE94852-61F0-4F7E-8B8C-60652BDCC9A9}"/>
              </a:ext>
            </a:extLst>
          </p:cNvPr>
          <p:cNvSpPr>
            <a:spLocks noGrp="1"/>
          </p:cNvSpPr>
          <p:nvPr/>
        </p:nvSpPr>
        <p:spPr>
          <a:xfrm>
            <a:off x="6096000" y="4495800"/>
            <a:ext cx="5095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A fila preserva a ordem de descoberta.</a:t>
            </a:r>
          </a:p>
        </p:txBody>
      </p:sp>
      <p:sp>
        <p:nvSpPr>
          <p:cNvPr id="48" name="Explicação 5.2">
            <a:extLst>
              <a:ext uri="{FF2B5EF4-FFF2-40B4-BE49-F238E27FC236}">
                <a16:creationId xmlns:a16="http://schemas.microsoft.com/office/drawing/2014/main" id="{A8757C09-221A-40C1-B701-60337748151B}"/>
              </a:ext>
            </a:extLst>
          </p:cNvPr>
          <p:cNvSpPr>
            <a:spLocks noGrp="1"/>
          </p:cNvSpPr>
          <p:nvPr/>
        </p:nvSpPr>
        <p:spPr>
          <a:xfrm>
            <a:off x="6096000" y="4791075"/>
            <a:ext cx="5095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Por isso, explora as posições por níveis.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E5BBFA65-1E2A-4950-9393-B9AA49571C38}"/>
              </a:ext>
            </a:extLst>
          </p:cNvPr>
          <p:cNvSpPr>
            <a:spLocks noGrp="1"/>
          </p:cNvSpPr>
          <p:nvPr/>
        </p:nvSpPr>
        <p:spPr>
          <a:xfrm>
            <a:off x="6096000" y="5334000"/>
            <a:ext cx="495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950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A BFS examina duas casas fora do caminho.</a:t>
            </a:r>
          </a:p>
        </p:txBody>
      </p:sp>
    </p:spTree>
    <p:extLst>
      <p:ext uri="{BB962C8B-B14F-4D97-AF65-F5344CB8AC3E}">
        <p14:creationId xmlns:p14="http://schemas.microsoft.com/office/powerpoint/2010/main" val="1035755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 24">
            <a:extLst>
              <a:ext uri="{FF2B5EF4-FFF2-40B4-BE49-F238E27FC236}">
                <a16:creationId xmlns:a16="http://schemas.microsoft.com/office/drawing/2014/main" id="{F3F3F838-92D1-4235-9490-141A2E034C71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Pseudocódigos: o que muda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91A809B-2ABD-45FB-8A12-A887ECFCA02C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AB40AA8-48EB-4175-9F23-010072879A34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67E50AC-B8CF-495C-A7E3-7DCDC2442618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5114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DFS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EC782C5-81AB-4255-97B1-AD2ADC53B258}"/>
              </a:ext>
            </a:extLst>
          </p:cNvPr>
          <p:cNvSpPr>
            <a:spLocks noGrp="1"/>
          </p:cNvSpPr>
          <p:nvPr/>
        </p:nvSpPr>
        <p:spPr>
          <a:xfrm>
            <a:off x="685800" y="1628775"/>
            <a:ext cx="5114925" cy="28575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B819961-7ABE-42C1-915C-F36E2DFDA63F}"/>
              </a:ext>
            </a:extLst>
          </p:cNvPr>
          <p:cNvSpPr>
            <a:spLocks noGrp="1"/>
          </p:cNvSpPr>
          <p:nvPr/>
        </p:nvSpPr>
        <p:spPr>
          <a:xfrm>
            <a:off x="6400800" y="1257300"/>
            <a:ext cx="5114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BFS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70B9623-838C-4A10-99E6-E76E955C7B4A}"/>
              </a:ext>
            </a:extLst>
          </p:cNvPr>
          <p:cNvSpPr>
            <a:spLocks noGrp="1"/>
          </p:cNvSpPr>
          <p:nvPr/>
        </p:nvSpPr>
        <p:spPr>
          <a:xfrm>
            <a:off x="6400800" y="1628775"/>
            <a:ext cx="5114925" cy="28575"/>
          </a:xfrm>
          <a:prstGeom prst="rect">
            <a:avLst/>
          </a:prstGeom>
          <a:solidFill>
            <a:srgbClr val="C97343"/>
          </a:solidFill>
          <a:ln w="0">
            <a:noFill/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2A45C3EE-F22E-4715-B744-75A9955A3C8D}"/>
              </a:ext>
            </a:extLst>
          </p:cNvPr>
          <p:cNvSpPr>
            <a:spLocks noGrp="1"/>
          </p:cNvSpPr>
          <p:nvPr/>
        </p:nvSpPr>
        <p:spPr>
          <a:xfrm>
            <a:off x="685800" y="196215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criar pilha com posição inicial e caminho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DDADE04-918F-45F5-B90F-B28F484EFD9C}"/>
              </a:ext>
            </a:extLst>
          </p:cNvPr>
          <p:cNvSpPr>
            <a:spLocks noGrp="1"/>
          </p:cNvSpPr>
          <p:nvPr/>
        </p:nvSpPr>
        <p:spPr>
          <a:xfrm>
            <a:off x="685800" y="2371725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criar conjunto visitados vazio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C3ED8321-415F-4419-A8ED-D211D6FB8151}"/>
              </a:ext>
            </a:extLst>
          </p:cNvPr>
          <p:cNvSpPr>
            <a:spLocks noGrp="1"/>
          </p:cNvSpPr>
          <p:nvPr/>
        </p:nvSpPr>
        <p:spPr>
          <a:xfrm>
            <a:off x="685800" y="278130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enquanto a pilha não estiver vazia: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28249FB-F9BD-41A0-B115-28026B81C663}"/>
              </a:ext>
            </a:extLst>
          </p:cNvPr>
          <p:cNvSpPr>
            <a:spLocks noGrp="1"/>
          </p:cNvSpPr>
          <p:nvPr/>
        </p:nvSpPr>
        <p:spPr>
          <a:xfrm>
            <a:off x="685800" y="3190875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14796F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14796F"/>
                </a:solidFill>
                <a:latin typeface="Consolas"/>
                <a:ea typeface="Consolas"/>
                <a:cs typeface="Consolas"/>
              </a:rPr>
              <a:t>  retirar o último elemento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6EA00047-3F70-4937-A2C7-C462D5620695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se for a posição final: retornar caminho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09DC21C-B730-455C-B466-4C59F30C908F}"/>
              </a:ext>
            </a:extLst>
          </p:cNvPr>
          <p:cNvSpPr>
            <a:spLocks noGrp="1"/>
          </p:cNvSpPr>
          <p:nvPr/>
        </p:nvSpPr>
        <p:spPr>
          <a:xfrm>
            <a:off x="685800" y="4010025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se já visitada: continuar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12FE123-6CB2-493C-B3F5-81C6FC50FDAB}"/>
              </a:ext>
            </a:extLst>
          </p:cNvPr>
          <p:cNvSpPr>
            <a:spLocks noGrp="1"/>
          </p:cNvSpPr>
          <p:nvPr/>
        </p:nvSpPr>
        <p:spPr>
          <a:xfrm>
            <a:off x="685800" y="441960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adicionar posição a visitados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D7A9880-4B64-47EF-A696-8EC3489BE301}"/>
              </a:ext>
            </a:extLst>
          </p:cNvPr>
          <p:cNvSpPr>
            <a:spLocks noGrp="1"/>
          </p:cNvSpPr>
          <p:nvPr/>
        </p:nvSpPr>
        <p:spPr>
          <a:xfrm>
            <a:off x="685800" y="4829175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para cada vizinho não visitado: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268AFA2E-DC72-4DA7-998D-C41EDF60C51C}"/>
              </a:ext>
            </a:extLst>
          </p:cNvPr>
          <p:cNvSpPr>
            <a:spLocks noGrp="1"/>
          </p:cNvSpPr>
          <p:nvPr/>
        </p:nvSpPr>
        <p:spPr>
          <a:xfrm>
            <a:off x="685800" y="523875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  adicionar vizinho e caminho à pilha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7D587DE7-8331-4B51-B1D9-F2584A357058}"/>
              </a:ext>
            </a:extLst>
          </p:cNvPr>
          <p:cNvSpPr>
            <a:spLocks noGrp="1"/>
          </p:cNvSpPr>
          <p:nvPr/>
        </p:nvSpPr>
        <p:spPr>
          <a:xfrm>
            <a:off x="6400800" y="196215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criar fila com posição inicial e caminho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FBAD1419-491E-43A9-8ECF-0D428D1CFA3D}"/>
              </a:ext>
            </a:extLst>
          </p:cNvPr>
          <p:cNvSpPr>
            <a:spLocks noGrp="1"/>
          </p:cNvSpPr>
          <p:nvPr/>
        </p:nvSpPr>
        <p:spPr>
          <a:xfrm>
            <a:off x="6400800" y="2371725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marcar posição inicial como visitada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E4A0CF3-4E6F-467E-BCC7-81DA9F252A4C}"/>
              </a:ext>
            </a:extLst>
          </p:cNvPr>
          <p:cNvSpPr>
            <a:spLocks noGrp="1"/>
          </p:cNvSpPr>
          <p:nvPr/>
        </p:nvSpPr>
        <p:spPr>
          <a:xfrm>
            <a:off x="6400800" y="278130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enquanto a fila não estiver vazia: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005D4D5-DF60-48C6-B824-5CE6EE43377E}"/>
              </a:ext>
            </a:extLst>
          </p:cNvPr>
          <p:cNvSpPr>
            <a:spLocks noGrp="1"/>
          </p:cNvSpPr>
          <p:nvPr/>
        </p:nvSpPr>
        <p:spPr>
          <a:xfrm>
            <a:off x="6400800" y="3190875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C97343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C97343"/>
                </a:solidFill>
                <a:latin typeface="Consolas"/>
                <a:ea typeface="Consolas"/>
                <a:cs typeface="Consolas"/>
              </a:rPr>
              <a:t>  retirar o primeiro elemento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7344D5D-AF9F-4EC3-9D4F-B50EA5B80057}"/>
              </a:ext>
            </a:extLst>
          </p:cNvPr>
          <p:cNvSpPr>
            <a:spLocks noGrp="1"/>
          </p:cNvSpPr>
          <p:nvPr/>
        </p:nvSpPr>
        <p:spPr>
          <a:xfrm>
            <a:off x="6400800" y="360045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se for a posição final: retornar caminho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07258AD0-8D81-442F-87DC-3B3B0246A669}"/>
              </a:ext>
            </a:extLst>
          </p:cNvPr>
          <p:cNvSpPr>
            <a:spLocks noGrp="1"/>
          </p:cNvSpPr>
          <p:nvPr/>
        </p:nvSpPr>
        <p:spPr>
          <a:xfrm>
            <a:off x="6400800" y="4010025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para cada vizinho não visitado: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32854D3E-83AB-49D8-9CB5-3B50F747FCEA}"/>
              </a:ext>
            </a:extLst>
          </p:cNvPr>
          <p:cNvSpPr>
            <a:spLocks noGrp="1"/>
          </p:cNvSpPr>
          <p:nvPr/>
        </p:nvSpPr>
        <p:spPr>
          <a:xfrm>
            <a:off x="6400800" y="441960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  adicionar vizinho a visitados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63FE95E1-700E-4AF2-8A93-D13B404C53AC}"/>
              </a:ext>
            </a:extLst>
          </p:cNvPr>
          <p:cNvSpPr>
            <a:spLocks noGrp="1"/>
          </p:cNvSpPr>
          <p:nvPr/>
        </p:nvSpPr>
        <p:spPr>
          <a:xfrm>
            <a:off x="6400800" y="4829175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17242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7242B"/>
                </a:solidFill>
                <a:latin typeface="Consolas"/>
                <a:ea typeface="Consolas"/>
                <a:cs typeface="Consolas"/>
              </a:rPr>
              <a:t>    adicionar vizinho e caminho à fila</a:t>
            </a:r>
          </a:p>
        </p:txBody>
      </p:sp>
    </p:spTree>
    <p:extLst>
      <p:ext uri="{BB962C8B-B14F-4D97-AF65-F5344CB8AC3E}">
        <p14:creationId xmlns:p14="http://schemas.microsoft.com/office/powerpoint/2010/main" val="783097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tângulo 78">
            <a:extLst>
              <a:ext uri="{FF2B5EF4-FFF2-40B4-BE49-F238E27FC236}">
                <a16:creationId xmlns:a16="http://schemas.microsoft.com/office/drawing/2014/main" id="{1C3C696A-116C-450F-A403-BAB708585A50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Mesmo caminho, exploração diferente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ECC7210-F57B-4E43-A285-D54D18A399C2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ADCF5B1-2D22-478F-ACFA-B487C1F77AD5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D58DA38-EC92-491D-9F55-9C1A3914A668}"/>
              </a:ext>
            </a:extLst>
          </p:cNvPr>
          <p:cNvSpPr>
            <a:spLocks noGrp="1"/>
          </p:cNvSpPr>
          <p:nvPr/>
        </p:nvSpPr>
        <p:spPr>
          <a:xfrm>
            <a:off x="714375" y="123825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DFS · 9 posições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490E748-796F-4176-B818-FF4B40228229}"/>
              </a:ext>
            </a:extLst>
          </p:cNvPr>
          <p:cNvSpPr>
            <a:spLocks noGrp="1"/>
          </p:cNvSpPr>
          <p:nvPr/>
        </p:nvSpPr>
        <p:spPr>
          <a:xfrm>
            <a:off x="714375" y="1609725"/>
            <a:ext cx="4953000" cy="28575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F552CC1-9238-4801-8081-29A5AB282C61}"/>
              </a:ext>
            </a:extLst>
          </p:cNvPr>
          <p:cNvSpPr>
            <a:spLocks noGrp="1"/>
          </p:cNvSpPr>
          <p:nvPr/>
        </p:nvSpPr>
        <p:spPr>
          <a:xfrm>
            <a:off x="6524625" y="123825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BFS · 11 posições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4DD4564-0B78-4800-A08D-7EF0BEEAEC0F}"/>
              </a:ext>
            </a:extLst>
          </p:cNvPr>
          <p:cNvSpPr>
            <a:spLocks noGrp="1"/>
          </p:cNvSpPr>
          <p:nvPr/>
        </p:nvSpPr>
        <p:spPr>
          <a:xfrm>
            <a:off x="6524625" y="1609725"/>
            <a:ext cx="4953000" cy="28575"/>
          </a:xfrm>
          <a:prstGeom prst="rect">
            <a:avLst/>
          </a:prstGeom>
          <a:solidFill>
            <a:srgbClr val="C97343"/>
          </a:solidFill>
          <a:ln w="0">
            <a:noFill/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A90B308-FB73-4E0D-B475-B72C97581540}"/>
              </a:ext>
            </a:extLst>
          </p:cNvPr>
          <p:cNvSpPr>
            <a:spLocks noGrp="1"/>
          </p:cNvSpPr>
          <p:nvPr/>
        </p:nvSpPr>
        <p:spPr>
          <a:xfrm>
            <a:off x="981075" y="1952625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EEEB054-DEA1-4E2C-B69C-BE86657A899D}"/>
              </a:ext>
            </a:extLst>
          </p:cNvPr>
          <p:cNvSpPr>
            <a:spLocks noGrp="1"/>
          </p:cNvSpPr>
          <p:nvPr/>
        </p:nvSpPr>
        <p:spPr>
          <a:xfrm>
            <a:off x="981075" y="1971675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5AE49DD-17B1-45D6-8AC9-7EB66EB0AF22}"/>
              </a:ext>
            </a:extLst>
          </p:cNvPr>
          <p:cNvSpPr>
            <a:spLocks noGrp="1"/>
          </p:cNvSpPr>
          <p:nvPr/>
        </p:nvSpPr>
        <p:spPr>
          <a:xfrm>
            <a:off x="1619250" y="19526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0F7CB90C-A0AA-4B85-8B32-82BB7EB193C5}"/>
              </a:ext>
            </a:extLst>
          </p:cNvPr>
          <p:cNvSpPr>
            <a:spLocks noGrp="1"/>
          </p:cNvSpPr>
          <p:nvPr/>
        </p:nvSpPr>
        <p:spPr>
          <a:xfrm>
            <a:off x="2257425" y="19526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ABB5B260-8AB3-428B-9CB3-AD9359A9C452}"/>
              </a:ext>
            </a:extLst>
          </p:cNvPr>
          <p:cNvSpPr>
            <a:spLocks noGrp="1"/>
          </p:cNvSpPr>
          <p:nvPr/>
        </p:nvSpPr>
        <p:spPr>
          <a:xfrm>
            <a:off x="2895600" y="19526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49252A6-0C1B-4181-8B63-BFDF7FE2E0CF}"/>
              </a:ext>
            </a:extLst>
          </p:cNvPr>
          <p:cNvSpPr>
            <a:spLocks noGrp="1"/>
          </p:cNvSpPr>
          <p:nvPr/>
        </p:nvSpPr>
        <p:spPr>
          <a:xfrm>
            <a:off x="3533775" y="19526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14AC6C9-25DF-4B10-87B9-197D56EA68D1}"/>
              </a:ext>
            </a:extLst>
          </p:cNvPr>
          <p:cNvSpPr>
            <a:spLocks noGrp="1"/>
          </p:cNvSpPr>
          <p:nvPr/>
        </p:nvSpPr>
        <p:spPr>
          <a:xfrm>
            <a:off x="981075" y="2590800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B74A08B-6356-472A-A6DD-0890377C4C80}"/>
              </a:ext>
            </a:extLst>
          </p:cNvPr>
          <p:cNvSpPr>
            <a:spLocks noGrp="1"/>
          </p:cNvSpPr>
          <p:nvPr/>
        </p:nvSpPr>
        <p:spPr>
          <a:xfrm>
            <a:off x="981075" y="260985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BCC803AF-285F-4A37-87B6-A114888AD464}"/>
              </a:ext>
            </a:extLst>
          </p:cNvPr>
          <p:cNvSpPr>
            <a:spLocks noGrp="1"/>
          </p:cNvSpPr>
          <p:nvPr/>
        </p:nvSpPr>
        <p:spPr>
          <a:xfrm>
            <a:off x="1619250" y="2590800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CCC93CDF-E6A3-483B-90F3-FC10BB12041F}"/>
              </a:ext>
            </a:extLst>
          </p:cNvPr>
          <p:cNvSpPr>
            <a:spLocks noGrp="1"/>
          </p:cNvSpPr>
          <p:nvPr/>
        </p:nvSpPr>
        <p:spPr>
          <a:xfrm>
            <a:off x="1619250" y="260985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E0C8503-C548-4518-A646-7AB5CA38B351}"/>
              </a:ext>
            </a:extLst>
          </p:cNvPr>
          <p:cNvSpPr>
            <a:spLocks noGrp="1"/>
          </p:cNvSpPr>
          <p:nvPr/>
        </p:nvSpPr>
        <p:spPr>
          <a:xfrm>
            <a:off x="2257425" y="2590800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4EFFBEAD-AFAA-4994-89A4-5E86113DE87C}"/>
              </a:ext>
            </a:extLst>
          </p:cNvPr>
          <p:cNvSpPr>
            <a:spLocks noGrp="1"/>
          </p:cNvSpPr>
          <p:nvPr/>
        </p:nvSpPr>
        <p:spPr>
          <a:xfrm>
            <a:off x="2257425" y="260985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C74866AC-C096-433E-BD72-1420AB874F85}"/>
              </a:ext>
            </a:extLst>
          </p:cNvPr>
          <p:cNvSpPr>
            <a:spLocks noGrp="1"/>
          </p:cNvSpPr>
          <p:nvPr/>
        </p:nvSpPr>
        <p:spPr>
          <a:xfrm>
            <a:off x="2895600" y="2590800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97913C45-DEA4-4D63-9F18-FF24CBF612F9}"/>
              </a:ext>
            </a:extLst>
          </p:cNvPr>
          <p:cNvSpPr>
            <a:spLocks noGrp="1"/>
          </p:cNvSpPr>
          <p:nvPr/>
        </p:nvSpPr>
        <p:spPr>
          <a:xfrm>
            <a:off x="3533775" y="2590800"/>
            <a:ext cx="609600" cy="60960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2080E8A-26E8-4251-B1C2-237C489ADE9C}"/>
              </a:ext>
            </a:extLst>
          </p:cNvPr>
          <p:cNvSpPr>
            <a:spLocks noGrp="1"/>
          </p:cNvSpPr>
          <p:nvPr/>
        </p:nvSpPr>
        <p:spPr>
          <a:xfrm>
            <a:off x="981075" y="322897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4C5411A-A972-48CD-8013-BD10D226100E}"/>
              </a:ext>
            </a:extLst>
          </p:cNvPr>
          <p:cNvSpPr>
            <a:spLocks noGrp="1"/>
          </p:cNvSpPr>
          <p:nvPr/>
        </p:nvSpPr>
        <p:spPr>
          <a:xfrm>
            <a:off x="1619250" y="322897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2E215F2B-6BA5-407E-A6A3-632B4ADD935C}"/>
              </a:ext>
            </a:extLst>
          </p:cNvPr>
          <p:cNvSpPr>
            <a:spLocks noGrp="1"/>
          </p:cNvSpPr>
          <p:nvPr/>
        </p:nvSpPr>
        <p:spPr>
          <a:xfrm>
            <a:off x="2257425" y="3228975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D7E8C0EF-054B-4D01-9C81-07E8C6780C98}"/>
              </a:ext>
            </a:extLst>
          </p:cNvPr>
          <p:cNvSpPr>
            <a:spLocks noGrp="1"/>
          </p:cNvSpPr>
          <p:nvPr/>
        </p:nvSpPr>
        <p:spPr>
          <a:xfrm>
            <a:off x="2257425" y="3248025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B9F5BE9D-C628-4919-861F-DFDE68F515DF}"/>
              </a:ext>
            </a:extLst>
          </p:cNvPr>
          <p:cNvSpPr>
            <a:spLocks noGrp="1"/>
          </p:cNvSpPr>
          <p:nvPr/>
        </p:nvSpPr>
        <p:spPr>
          <a:xfrm>
            <a:off x="2895600" y="322897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C5EC3F0D-1C5A-46BB-8F97-CF56C8A525FD}"/>
              </a:ext>
            </a:extLst>
          </p:cNvPr>
          <p:cNvSpPr>
            <a:spLocks noGrp="1"/>
          </p:cNvSpPr>
          <p:nvPr/>
        </p:nvSpPr>
        <p:spPr>
          <a:xfrm>
            <a:off x="3533775" y="3228975"/>
            <a:ext cx="609600" cy="60960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1A6B0847-8AAF-46DC-BCA2-FCF2A247CB58}"/>
              </a:ext>
            </a:extLst>
          </p:cNvPr>
          <p:cNvSpPr>
            <a:spLocks noGrp="1"/>
          </p:cNvSpPr>
          <p:nvPr/>
        </p:nvSpPr>
        <p:spPr>
          <a:xfrm>
            <a:off x="981075" y="3867150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9E6E6AB-5341-41D6-B06F-20FCA6F1A946}"/>
              </a:ext>
            </a:extLst>
          </p:cNvPr>
          <p:cNvSpPr>
            <a:spLocks noGrp="1"/>
          </p:cNvSpPr>
          <p:nvPr/>
        </p:nvSpPr>
        <p:spPr>
          <a:xfrm>
            <a:off x="1619250" y="3867150"/>
            <a:ext cx="609600" cy="60960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22CEFDE4-1B1A-4AAF-AF85-36AB29D47612}"/>
              </a:ext>
            </a:extLst>
          </p:cNvPr>
          <p:cNvSpPr>
            <a:spLocks noGrp="1"/>
          </p:cNvSpPr>
          <p:nvPr/>
        </p:nvSpPr>
        <p:spPr>
          <a:xfrm>
            <a:off x="2257425" y="3867150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18EFA361-6D25-4378-9044-0860E78B7148}"/>
              </a:ext>
            </a:extLst>
          </p:cNvPr>
          <p:cNvSpPr>
            <a:spLocks noGrp="1"/>
          </p:cNvSpPr>
          <p:nvPr/>
        </p:nvSpPr>
        <p:spPr>
          <a:xfrm>
            <a:off x="2257425" y="388620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39047768-464C-4DC2-8DAD-13D64B9C367E}"/>
              </a:ext>
            </a:extLst>
          </p:cNvPr>
          <p:cNvSpPr>
            <a:spLocks noGrp="1"/>
          </p:cNvSpPr>
          <p:nvPr/>
        </p:nvSpPr>
        <p:spPr>
          <a:xfrm>
            <a:off x="2895600" y="3867150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E1534B23-20AB-48AC-A79B-1EF3137876BA}"/>
              </a:ext>
            </a:extLst>
          </p:cNvPr>
          <p:cNvSpPr>
            <a:spLocks noGrp="1"/>
          </p:cNvSpPr>
          <p:nvPr/>
        </p:nvSpPr>
        <p:spPr>
          <a:xfrm>
            <a:off x="2895600" y="388620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9457241D-DD6E-4AD6-B6B3-1B229F3AF3F7}"/>
              </a:ext>
            </a:extLst>
          </p:cNvPr>
          <p:cNvSpPr>
            <a:spLocks noGrp="1"/>
          </p:cNvSpPr>
          <p:nvPr/>
        </p:nvSpPr>
        <p:spPr>
          <a:xfrm>
            <a:off x="3533775" y="3867150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BC6D13D2-E61E-4AFF-BD51-615E29E6DA83}"/>
              </a:ext>
            </a:extLst>
          </p:cNvPr>
          <p:cNvSpPr>
            <a:spLocks noGrp="1"/>
          </p:cNvSpPr>
          <p:nvPr/>
        </p:nvSpPr>
        <p:spPr>
          <a:xfrm>
            <a:off x="3533775" y="388620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6FFF1ABD-D957-4F5F-8406-C98EC1F5AD06}"/>
              </a:ext>
            </a:extLst>
          </p:cNvPr>
          <p:cNvSpPr>
            <a:spLocks noGrp="1"/>
          </p:cNvSpPr>
          <p:nvPr/>
        </p:nvSpPr>
        <p:spPr>
          <a:xfrm>
            <a:off x="981075" y="45053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AA06D134-BD51-486A-B7DB-F38FFCC85C81}"/>
              </a:ext>
            </a:extLst>
          </p:cNvPr>
          <p:cNvSpPr>
            <a:spLocks noGrp="1"/>
          </p:cNvSpPr>
          <p:nvPr/>
        </p:nvSpPr>
        <p:spPr>
          <a:xfrm>
            <a:off x="1619250" y="45053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B708A9BE-3324-400D-A3AE-B0A99CDF323C}"/>
              </a:ext>
            </a:extLst>
          </p:cNvPr>
          <p:cNvSpPr>
            <a:spLocks noGrp="1"/>
          </p:cNvSpPr>
          <p:nvPr/>
        </p:nvSpPr>
        <p:spPr>
          <a:xfrm>
            <a:off x="2257425" y="45053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78D85BD5-FF1F-4C20-8FDF-21DEC23D2D8C}"/>
              </a:ext>
            </a:extLst>
          </p:cNvPr>
          <p:cNvSpPr>
            <a:spLocks noGrp="1"/>
          </p:cNvSpPr>
          <p:nvPr/>
        </p:nvSpPr>
        <p:spPr>
          <a:xfrm>
            <a:off x="2895600" y="45053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2E0F5F1F-B386-42A2-98A7-1673370D1633}"/>
              </a:ext>
            </a:extLst>
          </p:cNvPr>
          <p:cNvSpPr>
            <a:spLocks noGrp="1"/>
          </p:cNvSpPr>
          <p:nvPr/>
        </p:nvSpPr>
        <p:spPr>
          <a:xfrm>
            <a:off x="3533775" y="4505325"/>
            <a:ext cx="609600" cy="609600"/>
          </a:xfrm>
          <a:prstGeom prst="rect">
            <a:avLst/>
          </a:prstGeom>
          <a:solidFill>
            <a:srgbClr val="CFE6E1"/>
          </a:solidFill>
          <a:ln w="19050">
            <a:solidFill>
              <a:srgbClr val="14796F"/>
            </a:solidFill>
            <a:prstDash val="solid"/>
          </a:ln>
        </p:spPr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E279B7C2-9FD8-4EF1-85A8-D1AA7EA6A5C4}"/>
              </a:ext>
            </a:extLst>
          </p:cNvPr>
          <p:cNvSpPr>
            <a:spLocks noGrp="1"/>
          </p:cNvSpPr>
          <p:nvPr/>
        </p:nvSpPr>
        <p:spPr>
          <a:xfrm>
            <a:off x="3533775" y="4524375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4D743DF5-8EEF-4A8F-92B5-68C22759CC0F}"/>
              </a:ext>
            </a:extLst>
          </p:cNvPr>
          <p:cNvSpPr>
            <a:spLocks noGrp="1"/>
          </p:cNvSpPr>
          <p:nvPr/>
        </p:nvSpPr>
        <p:spPr>
          <a:xfrm>
            <a:off x="6791325" y="1952625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300ADACF-3178-4B10-B944-88F46B3AF094}"/>
              </a:ext>
            </a:extLst>
          </p:cNvPr>
          <p:cNvSpPr>
            <a:spLocks noGrp="1"/>
          </p:cNvSpPr>
          <p:nvPr/>
        </p:nvSpPr>
        <p:spPr>
          <a:xfrm>
            <a:off x="6791325" y="1971675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479E1311-C60A-4A7D-8DBE-9A116B7B07CF}"/>
              </a:ext>
            </a:extLst>
          </p:cNvPr>
          <p:cNvSpPr>
            <a:spLocks noGrp="1"/>
          </p:cNvSpPr>
          <p:nvPr/>
        </p:nvSpPr>
        <p:spPr>
          <a:xfrm>
            <a:off x="7429500" y="19526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73F56E86-B679-4610-8663-913F447D3694}"/>
              </a:ext>
            </a:extLst>
          </p:cNvPr>
          <p:cNvSpPr>
            <a:spLocks noGrp="1"/>
          </p:cNvSpPr>
          <p:nvPr/>
        </p:nvSpPr>
        <p:spPr>
          <a:xfrm>
            <a:off x="8067675" y="19526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06A97218-B0E3-4E66-87B0-5B8BC309085A}"/>
              </a:ext>
            </a:extLst>
          </p:cNvPr>
          <p:cNvSpPr>
            <a:spLocks noGrp="1"/>
          </p:cNvSpPr>
          <p:nvPr/>
        </p:nvSpPr>
        <p:spPr>
          <a:xfrm>
            <a:off x="8705850" y="19526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F4236EE3-6612-405C-B622-8E6A6C2EC858}"/>
              </a:ext>
            </a:extLst>
          </p:cNvPr>
          <p:cNvSpPr>
            <a:spLocks noGrp="1"/>
          </p:cNvSpPr>
          <p:nvPr/>
        </p:nvSpPr>
        <p:spPr>
          <a:xfrm>
            <a:off x="9344025" y="19526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2F7BF1EF-2AF3-48BF-951A-BE7084CFE83A}"/>
              </a:ext>
            </a:extLst>
          </p:cNvPr>
          <p:cNvSpPr>
            <a:spLocks noGrp="1"/>
          </p:cNvSpPr>
          <p:nvPr/>
        </p:nvSpPr>
        <p:spPr>
          <a:xfrm>
            <a:off x="6791325" y="2590800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860D7A4A-FE66-48BD-AD20-686A3B4FCC1A}"/>
              </a:ext>
            </a:extLst>
          </p:cNvPr>
          <p:cNvSpPr>
            <a:spLocks noGrp="1"/>
          </p:cNvSpPr>
          <p:nvPr/>
        </p:nvSpPr>
        <p:spPr>
          <a:xfrm>
            <a:off x="6791325" y="260985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752C268B-216E-4EE7-8FB4-171AE5430C97}"/>
              </a:ext>
            </a:extLst>
          </p:cNvPr>
          <p:cNvSpPr>
            <a:spLocks noGrp="1"/>
          </p:cNvSpPr>
          <p:nvPr/>
        </p:nvSpPr>
        <p:spPr>
          <a:xfrm>
            <a:off x="7429500" y="2590800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2A6180EC-2B94-458E-B16D-2B439010F848}"/>
              </a:ext>
            </a:extLst>
          </p:cNvPr>
          <p:cNvSpPr>
            <a:spLocks noGrp="1"/>
          </p:cNvSpPr>
          <p:nvPr/>
        </p:nvSpPr>
        <p:spPr>
          <a:xfrm>
            <a:off x="7429500" y="260985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35A4AFE6-0427-475E-9399-F762FD2CCFC4}"/>
              </a:ext>
            </a:extLst>
          </p:cNvPr>
          <p:cNvSpPr>
            <a:spLocks noGrp="1"/>
          </p:cNvSpPr>
          <p:nvPr/>
        </p:nvSpPr>
        <p:spPr>
          <a:xfrm>
            <a:off x="8067675" y="2590800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663599DE-08E8-4393-82A1-B36512EE6B88}"/>
              </a:ext>
            </a:extLst>
          </p:cNvPr>
          <p:cNvSpPr>
            <a:spLocks noGrp="1"/>
          </p:cNvSpPr>
          <p:nvPr/>
        </p:nvSpPr>
        <p:spPr>
          <a:xfrm>
            <a:off x="8067675" y="260985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2FCFE0F8-48E5-4ADD-BA32-A9FB25BB0270}"/>
              </a:ext>
            </a:extLst>
          </p:cNvPr>
          <p:cNvSpPr>
            <a:spLocks noGrp="1"/>
          </p:cNvSpPr>
          <p:nvPr/>
        </p:nvSpPr>
        <p:spPr>
          <a:xfrm>
            <a:off x="8705850" y="2590800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B053EEBB-E4A6-4DC4-A6BB-CA490FB703AB}"/>
              </a:ext>
            </a:extLst>
          </p:cNvPr>
          <p:cNvSpPr>
            <a:spLocks noGrp="1"/>
          </p:cNvSpPr>
          <p:nvPr/>
        </p:nvSpPr>
        <p:spPr>
          <a:xfrm>
            <a:off x="9344025" y="2590800"/>
            <a:ext cx="609600" cy="609600"/>
          </a:xfrm>
          <a:prstGeom prst="rect">
            <a:avLst/>
          </a:prstGeom>
          <a:solidFill>
            <a:srgbClr val="E9EDE9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3576CB1D-974F-44C5-B8A9-9325A5F302D8}"/>
              </a:ext>
            </a:extLst>
          </p:cNvPr>
          <p:cNvSpPr>
            <a:spLocks noGrp="1"/>
          </p:cNvSpPr>
          <p:nvPr/>
        </p:nvSpPr>
        <p:spPr>
          <a:xfrm>
            <a:off x="6791325" y="322897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23346FD8-5F10-44E0-8D94-90017E8CEB8D}"/>
              </a:ext>
            </a:extLst>
          </p:cNvPr>
          <p:cNvSpPr>
            <a:spLocks noGrp="1"/>
          </p:cNvSpPr>
          <p:nvPr/>
        </p:nvSpPr>
        <p:spPr>
          <a:xfrm>
            <a:off x="7429500" y="322897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E724B3C3-6319-4985-A5FC-CA70E520489A}"/>
              </a:ext>
            </a:extLst>
          </p:cNvPr>
          <p:cNvSpPr>
            <a:spLocks noGrp="1"/>
          </p:cNvSpPr>
          <p:nvPr/>
        </p:nvSpPr>
        <p:spPr>
          <a:xfrm>
            <a:off x="8067675" y="3228975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0D30BB05-9FA2-4770-AB8C-CF7A5CA794C4}"/>
              </a:ext>
            </a:extLst>
          </p:cNvPr>
          <p:cNvSpPr>
            <a:spLocks noGrp="1"/>
          </p:cNvSpPr>
          <p:nvPr/>
        </p:nvSpPr>
        <p:spPr>
          <a:xfrm>
            <a:off x="8067675" y="3248025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B1F71014-05F0-43C8-ACBF-98051638ACCD}"/>
              </a:ext>
            </a:extLst>
          </p:cNvPr>
          <p:cNvSpPr>
            <a:spLocks noGrp="1"/>
          </p:cNvSpPr>
          <p:nvPr/>
        </p:nvSpPr>
        <p:spPr>
          <a:xfrm>
            <a:off x="8705850" y="322897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AC967DC8-02C8-4C4F-9491-93BFBE25A41A}"/>
              </a:ext>
            </a:extLst>
          </p:cNvPr>
          <p:cNvSpPr>
            <a:spLocks noGrp="1"/>
          </p:cNvSpPr>
          <p:nvPr/>
        </p:nvSpPr>
        <p:spPr>
          <a:xfrm>
            <a:off x="9344025" y="3228975"/>
            <a:ext cx="609600" cy="609600"/>
          </a:xfrm>
          <a:prstGeom prst="rect">
            <a:avLst/>
          </a:prstGeom>
          <a:solidFill>
            <a:srgbClr val="F7C79F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B5C5B877-AC72-4499-9AC9-AC92B84C72AB}"/>
              </a:ext>
            </a:extLst>
          </p:cNvPr>
          <p:cNvSpPr>
            <a:spLocks noGrp="1"/>
          </p:cNvSpPr>
          <p:nvPr/>
        </p:nvSpPr>
        <p:spPr>
          <a:xfrm>
            <a:off x="9344025" y="3248025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E12DCED2-F850-4D79-97F8-E4FADDBA7E50}"/>
              </a:ext>
            </a:extLst>
          </p:cNvPr>
          <p:cNvSpPr>
            <a:spLocks noGrp="1"/>
          </p:cNvSpPr>
          <p:nvPr/>
        </p:nvSpPr>
        <p:spPr>
          <a:xfrm>
            <a:off x="6791325" y="3867150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79CDBB49-08D6-4D31-BF07-F54B0D62E10E}"/>
              </a:ext>
            </a:extLst>
          </p:cNvPr>
          <p:cNvSpPr>
            <a:spLocks noGrp="1"/>
          </p:cNvSpPr>
          <p:nvPr/>
        </p:nvSpPr>
        <p:spPr>
          <a:xfrm>
            <a:off x="7429500" y="3867150"/>
            <a:ext cx="609600" cy="609600"/>
          </a:xfrm>
          <a:prstGeom prst="rect">
            <a:avLst/>
          </a:prstGeom>
          <a:solidFill>
            <a:srgbClr val="F7C79F"/>
          </a:solidFill>
          <a:ln w="19050">
            <a:solidFill>
              <a:srgbClr val="DFE4E0"/>
            </a:solidFill>
            <a:prstDash val="solid"/>
          </a:ln>
        </p:spPr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A717CBAD-F3F9-4012-9CA1-0002D0777A78}"/>
              </a:ext>
            </a:extLst>
          </p:cNvPr>
          <p:cNvSpPr>
            <a:spLocks noGrp="1"/>
          </p:cNvSpPr>
          <p:nvPr/>
        </p:nvSpPr>
        <p:spPr>
          <a:xfrm>
            <a:off x="7429500" y="388620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7F4DA761-929F-403E-ADBE-DCB652E9CFFB}"/>
              </a:ext>
            </a:extLst>
          </p:cNvPr>
          <p:cNvSpPr>
            <a:spLocks noGrp="1"/>
          </p:cNvSpPr>
          <p:nvPr/>
        </p:nvSpPr>
        <p:spPr>
          <a:xfrm>
            <a:off x="8067675" y="3867150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B7A99DAC-1DDF-4487-8EFF-D5710C058E89}"/>
              </a:ext>
            </a:extLst>
          </p:cNvPr>
          <p:cNvSpPr>
            <a:spLocks noGrp="1"/>
          </p:cNvSpPr>
          <p:nvPr/>
        </p:nvSpPr>
        <p:spPr>
          <a:xfrm>
            <a:off x="8067675" y="388620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39F3C969-AF5B-44AA-B866-AB851A99FCA6}"/>
              </a:ext>
            </a:extLst>
          </p:cNvPr>
          <p:cNvSpPr>
            <a:spLocks noGrp="1"/>
          </p:cNvSpPr>
          <p:nvPr/>
        </p:nvSpPr>
        <p:spPr>
          <a:xfrm>
            <a:off x="8705850" y="3867150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272D2922-5482-4FF9-A68E-7ABC88BBF706}"/>
              </a:ext>
            </a:extLst>
          </p:cNvPr>
          <p:cNvSpPr>
            <a:spLocks noGrp="1"/>
          </p:cNvSpPr>
          <p:nvPr/>
        </p:nvSpPr>
        <p:spPr>
          <a:xfrm>
            <a:off x="8705850" y="388620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819A16C9-DAFD-484B-8832-B2B39C093F45}"/>
              </a:ext>
            </a:extLst>
          </p:cNvPr>
          <p:cNvSpPr>
            <a:spLocks noGrp="1"/>
          </p:cNvSpPr>
          <p:nvPr/>
        </p:nvSpPr>
        <p:spPr>
          <a:xfrm>
            <a:off x="9344025" y="3867150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42192318-1DFC-43F1-B291-0BA4CF52F522}"/>
              </a:ext>
            </a:extLst>
          </p:cNvPr>
          <p:cNvSpPr>
            <a:spLocks noGrp="1"/>
          </p:cNvSpPr>
          <p:nvPr/>
        </p:nvSpPr>
        <p:spPr>
          <a:xfrm>
            <a:off x="9344025" y="3886200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28701A04-8241-4B3E-8E21-7385B56EED47}"/>
              </a:ext>
            </a:extLst>
          </p:cNvPr>
          <p:cNvSpPr>
            <a:spLocks noGrp="1"/>
          </p:cNvSpPr>
          <p:nvPr/>
        </p:nvSpPr>
        <p:spPr>
          <a:xfrm>
            <a:off x="6791325" y="45053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630DB2CB-6CF3-46F5-8CA8-D255BE84021B}"/>
              </a:ext>
            </a:extLst>
          </p:cNvPr>
          <p:cNvSpPr>
            <a:spLocks noGrp="1"/>
          </p:cNvSpPr>
          <p:nvPr/>
        </p:nvSpPr>
        <p:spPr>
          <a:xfrm>
            <a:off x="7429500" y="45053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8C42BB5C-BD08-4D34-8078-03C192DC44BA}"/>
              </a:ext>
            </a:extLst>
          </p:cNvPr>
          <p:cNvSpPr>
            <a:spLocks noGrp="1"/>
          </p:cNvSpPr>
          <p:nvPr/>
        </p:nvSpPr>
        <p:spPr>
          <a:xfrm>
            <a:off x="8067675" y="45053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3161C321-CAA0-48AC-B4D3-C62208274153}"/>
              </a:ext>
            </a:extLst>
          </p:cNvPr>
          <p:cNvSpPr>
            <a:spLocks noGrp="1"/>
          </p:cNvSpPr>
          <p:nvPr/>
        </p:nvSpPr>
        <p:spPr>
          <a:xfrm>
            <a:off x="8705850" y="4505325"/>
            <a:ext cx="609600" cy="609600"/>
          </a:xfrm>
          <a:prstGeom prst="rect">
            <a:avLst/>
          </a:prstGeom>
          <a:solidFill>
            <a:srgbClr val="213038"/>
          </a:solidFill>
          <a:ln w="0">
            <a:solidFill>
              <a:srgbClr val="213038"/>
            </a:solidFill>
            <a:prstDash val="solid"/>
          </a:ln>
        </p:spPr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0B393A83-0618-4A9E-BC11-F69502AD4487}"/>
              </a:ext>
            </a:extLst>
          </p:cNvPr>
          <p:cNvSpPr>
            <a:spLocks noGrp="1"/>
          </p:cNvSpPr>
          <p:nvPr/>
        </p:nvSpPr>
        <p:spPr>
          <a:xfrm>
            <a:off x="9344025" y="4505325"/>
            <a:ext cx="609600" cy="609600"/>
          </a:xfrm>
          <a:prstGeom prst="rect">
            <a:avLst/>
          </a:prstGeom>
          <a:solidFill>
            <a:srgbClr val="F3DED0"/>
          </a:solidFill>
          <a:ln w="19050">
            <a:solidFill>
              <a:srgbClr val="C97343"/>
            </a:solidFill>
            <a:prstDash val="solid"/>
          </a:ln>
        </p:spPr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C04B7521-BD05-48B8-960D-782B57B80DA0}"/>
              </a:ext>
            </a:extLst>
          </p:cNvPr>
          <p:cNvSpPr>
            <a:spLocks noGrp="1"/>
          </p:cNvSpPr>
          <p:nvPr/>
        </p:nvSpPr>
        <p:spPr>
          <a:xfrm>
            <a:off x="9344025" y="4524375"/>
            <a:ext cx="60960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357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357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3654F8CF-A9F7-4B5D-89EB-D5E12FC2F19E}"/>
              </a:ext>
            </a:extLst>
          </p:cNvPr>
          <p:cNvSpPr>
            <a:spLocks noGrp="1"/>
          </p:cNvSpPr>
          <p:nvPr/>
        </p:nvSpPr>
        <p:spPr>
          <a:xfrm>
            <a:off x="762000" y="5495925"/>
            <a:ext cx="10572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Os números indicam a ordem examinada. As duas buscas terminam com 8 movimentos.</a:t>
            </a:r>
          </a:p>
        </p:txBody>
      </p:sp>
    </p:spTree>
    <p:extLst>
      <p:ext uri="{BB962C8B-B14F-4D97-AF65-F5344CB8AC3E}">
        <p14:creationId xmlns:p14="http://schemas.microsoft.com/office/powerpoint/2010/main" val="720075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00A231B5-1844-46E3-AE1D-D59FEEF6F3BA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Como medimos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1D2E75F-1CD8-494F-BEE4-D6BCEFD540D0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CC12DCF-06B0-498D-8E76-4931465CF99F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B89799A-5555-4474-AD84-9341CD81969A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4857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TEMPO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6F676F0-3717-45F2-9B5B-F0FCC7BFCB00}"/>
              </a:ext>
            </a:extLst>
          </p:cNvPr>
          <p:cNvSpPr>
            <a:spLocks noGrp="1"/>
          </p:cNvSpPr>
          <p:nvPr/>
        </p:nvSpPr>
        <p:spPr>
          <a:xfrm>
            <a:off x="723900" y="1800225"/>
            <a:ext cx="4857750" cy="28575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B723241-F0C2-4895-A862-BB295A292B46}"/>
              </a:ext>
            </a:extLst>
          </p:cNvPr>
          <p:cNvSpPr>
            <a:spLocks noGrp="1"/>
          </p:cNvSpPr>
          <p:nvPr/>
        </p:nvSpPr>
        <p:spPr>
          <a:xfrm>
            <a:off x="6534150" y="1428750"/>
            <a:ext cx="4857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MEMÓRIA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4A73F35-A9C5-449F-B905-EFF257AC0AE1}"/>
              </a:ext>
            </a:extLst>
          </p:cNvPr>
          <p:cNvSpPr>
            <a:spLocks noGrp="1"/>
          </p:cNvSpPr>
          <p:nvPr/>
        </p:nvSpPr>
        <p:spPr>
          <a:xfrm>
            <a:off x="6534150" y="1800225"/>
            <a:ext cx="4857750" cy="28575"/>
          </a:xfrm>
          <a:prstGeom prst="rect">
            <a:avLst/>
          </a:prstGeom>
          <a:solidFill>
            <a:srgbClr val="C97343"/>
          </a:solidFill>
          <a:ln w="0">
            <a:noFill/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74FD3A0-A1EC-42B3-9661-EDA9EFD85DC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200025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679"/>
          </a:bodyPr>
          <a:lstStyle/>
          <a:p>
            <a:pPr algn="l">
              <a:defRPr sz="60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60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4DB3267-FCD9-437B-823E-A822025B2CA5}"/>
              </a:ext>
            </a:extLst>
          </p:cNvPr>
          <p:cNvSpPr>
            <a:spLocks noGrp="1"/>
          </p:cNvSpPr>
          <p:nvPr/>
        </p:nvSpPr>
        <p:spPr>
          <a:xfrm>
            <a:off x="6534150" y="2190750"/>
            <a:ext cx="200025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679"/>
          </a:bodyPr>
          <a:lstStyle/>
          <a:p>
            <a:pPr algn="l">
              <a:defRPr sz="60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60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A9316D5-54BD-443B-8168-E435348C8EF2}"/>
              </a:ext>
            </a:extLst>
          </p:cNvPr>
          <p:cNvSpPr>
            <a:spLocks noGrp="1"/>
          </p:cNvSpPr>
          <p:nvPr/>
        </p:nvSpPr>
        <p:spPr>
          <a:xfrm>
            <a:off x="2400300" y="2447925"/>
            <a:ext cx="304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amostras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9826731-8EC3-439A-AA19-FA14AF95B03A}"/>
              </a:ext>
            </a:extLst>
          </p:cNvPr>
          <p:cNvSpPr>
            <a:spLocks noGrp="1"/>
          </p:cNvSpPr>
          <p:nvPr/>
        </p:nvSpPr>
        <p:spPr>
          <a:xfrm>
            <a:off x="8191500" y="2447925"/>
            <a:ext cx="3238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medições individuais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835A537-BF4A-4F60-8D41-983EE9A5C9D8}"/>
              </a:ext>
            </a:extLst>
          </p:cNvPr>
          <p:cNvSpPr>
            <a:spLocks noGrp="1"/>
          </p:cNvSpPr>
          <p:nvPr/>
        </p:nvSpPr>
        <p:spPr>
          <a:xfrm>
            <a:off x="723900" y="3533775"/>
            <a:ext cx="4857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1.000 execuções por amostra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496DCFB-F984-4423-B057-F5DD571AE7AA}"/>
              </a:ext>
            </a:extLst>
          </p:cNvPr>
          <p:cNvSpPr>
            <a:spLocks noGrp="1"/>
          </p:cNvSpPr>
          <p:nvPr/>
        </p:nvSpPr>
        <p:spPr>
          <a:xfrm>
            <a:off x="723900" y="4067175"/>
            <a:ext cx="4857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perf_counter_ns()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19F972A9-1EED-44FE-B54D-9691D2B7576D}"/>
              </a:ext>
            </a:extLst>
          </p:cNvPr>
          <p:cNvSpPr>
            <a:spLocks noGrp="1"/>
          </p:cNvSpPr>
          <p:nvPr/>
        </p:nvSpPr>
        <p:spPr>
          <a:xfrm>
            <a:off x="723900" y="4600575"/>
            <a:ext cx="4857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Tempo por execução em ms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4BC7AB82-9C30-4C25-8306-1AA7043E356B}"/>
              </a:ext>
            </a:extLst>
          </p:cNvPr>
          <p:cNvSpPr>
            <a:spLocks noGrp="1"/>
          </p:cNvSpPr>
          <p:nvPr/>
        </p:nvSpPr>
        <p:spPr>
          <a:xfrm>
            <a:off x="6534150" y="3533775"/>
            <a:ext cx="4857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tracemalloc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457BAA9D-7894-4C7C-AA6B-52AC1AB8A40A}"/>
              </a:ext>
            </a:extLst>
          </p:cNvPr>
          <p:cNvSpPr>
            <a:spLocks noGrp="1"/>
          </p:cNvSpPr>
          <p:nvPr/>
        </p:nvSpPr>
        <p:spPr>
          <a:xfrm>
            <a:off x="6534150" y="4067175"/>
            <a:ext cx="4857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Pico de alocação em KiB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1A263BF4-E542-4222-92DD-9D11EB605E49}"/>
              </a:ext>
            </a:extLst>
          </p:cNvPr>
          <p:cNvSpPr>
            <a:spLocks noGrp="1"/>
          </p:cNvSpPr>
          <p:nvPr/>
        </p:nvSpPr>
        <p:spPr>
          <a:xfrm>
            <a:off x="6534150" y="4600575"/>
            <a:ext cx="4857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Uma execução por medição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8AB50EF4-490D-4755-98B7-69AF656B300D}"/>
              </a:ext>
            </a:extLst>
          </p:cNvPr>
          <p:cNvSpPr>
            <a:spLocks noGrp="1"/>
          </p:cNvSpPr>
          <p:nvPr/>
        </p:nvSpPr>
        <p:spPr>
          <a:xfrm>
            <a:off x="723900" y="5534025"/>
            <a:ext cx="106680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791CF2E7-C078-433B-9419-A1BEE805C20E}"/>
              </a:ext>
            </a:extLst>
          </p:cNvPr>
          <p:cNvSpPr>
            <a:spLocks noGrp="1"/>
          </p:cNvSpPr>
          <p:nvPr/>
        </p:nvSpPr>
        <p:spPr>
          <a:xfrm>
            <a:off x="723900" y="5648325"/>
            <a:ext cx="76200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Descarte do maior e menor valor; média dos 8 restantes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073E8933-8A92-4411-AD5B-8DF4E7B8F319}"/>
              </a:ext>
            </a:extLst>
          </p:cNvPr>
          <p:cNvSpPr>
            <a:spLocks noGrp="1"/>
          </p:cNvSpPr>
          <p:nvPr/>
        </p:nvSpPr>
        <p:spPr>
          <a:xfrm>
            <a:off x="723900" y="6010275"/>
            <a:ext cx="10668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275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i7-1255U · 40 GB RAM · Windows 11 · Python 3.12.4</a:t>
            </a:r>
          </a:p>
        </p:txBody>
      </p:sp>
    </p:spTree>
    <p:extLst>
      <p:ext uri="{BB962C8B-B14F-4D97-AF65-F5344CB8AC3E}">
        <p14:creationId xmlns:p14="http://schemas.microsoft.com/office/powerpoint/2010/main" val="1089326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330E8398-978A-4E5C-88DF-E5CADE84446B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Resultados do experimento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AA2F9CA-AB14-4765-A44D-08F7601A2D74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219350A-9296-4679-AE9F-BB1CC8B6FE3B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9" name="Tabela 8"/>
          <p:cNvGraphicFramePr/>
          <p:nvPr/>
        </p:nvGraphicFramePr>
        <p:xfrm>
          <a:off x="876300" y="1428750"/>
          <a:ext cx="10429875" cy="4276725"/>
        </p:xfrm>
        <a:graphic>
          <a:graphicData uri="http://schemas.openxmlformats.org/drawingml/2006/table">
            <a:tbl>
              <a:tblPr/>
              <a:tblGrid>
                <a:gridCol w="528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0961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anchor="ctr">
                    <a:solidFill>
                      <a:srgbClr val="1724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DFS</a:t>
                      </a:r>
                    </a:p>
                  </a:txBody>
                  <a:tcPr anchor="ctr">
                    <a:solidFill>
                      <a:srgbClr val="1724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BFS</a:t>
                      </a:r>
                    </a:p>
                  </a:txBody>
                  <a:tcPr anchor="ctr">
                    <a:solidFill>
                      <a:srgbClr val="1724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0961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Tempo médio (ms)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4796F"/>
                          </a:solidFill>
                          <a:latin typeface="Arial"/>
                          <a:ea typeface="Arial"/>
                          <a:cs typeface="Arial"/>
                        </a:rPr>
                        <a:t>0,0080055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0,009720625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0961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Desvio padrão (ms)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4796F"/>
                          </a:solidFill>
                          <a:latin typeface="Arial"/>
                          <a:ea typeface="Arial"/>
                          <a:cs typeface="Arial"/>
                        </a:rPr>
                        <a:t>0,000281989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0,000339590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0961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Memória média (KiB)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4796F"/>
                          </a:solidFill>
                          <a:latin typeface="Arial"/>
                          <a:ea typeface="Arial"/>
                          <a:cs typeface="Arial"/>
                        </a:rPr>
                        <a:t>1,086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2,117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961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Posições examinadas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4796F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0961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Movimentos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6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0961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Encontrou a saída?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anchor="ctr">
                    <a:solidFill>
                      <a:srgbClr val="EC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C211C20D-63C3-47E6-8125-9F9D0B27C729}"/>
              </a:ext>
            </a:extLst>
          </p:cNvPr>
          <p:cNvSpPr>
            <a:spLocks noGrp="1"/>
          </p:cNvSpPr>
          <p:nvPr/>
        </p:nvSpPr>
        <p:spPr>
          <a:xfrm>
            <a:off x="876300" y="5810250"/>
            <a:ext cx="952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Melhor valor observado em tempo, memória e posições: DFS</a:t>
            </a:r>
          </a:p>
        </p:txBody>
      </p:sp>
    </p:spTree>
    <p:extLst>
      <p:ext uri="{BB962C8B-B14F-4D97-AF65-F5344CB8AC3E}">
        <p14:creationId xmlns:p14="http://schemas.microsoft.com/office/powerpoint/2010/main" val="149833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6AF8882B-8FBB-4FC1-BC3D-57871CDCBC44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Resultados em escala própria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0770AFA-F8E4-4C07-811C-F1E7E4CC5DF5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90B3FC0-6B18-482F-90A1-10A031676A82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7E24763-2023-4A86-9810-F4A4CADF51C0}"/>
              </a:ext>
            </a:extLst>
          </p:cNvPr>
          <p:cNvSpPr>
            <a:spLocks noGrp="1"/>
          </p:cNvSpPr>
          <p:nvPr/>
        </p:nvSpPr>
        <p:spPr>
          <a:xfrm>
            <a:off x="800100" y="1419225"/>
            <a:ext cx="2952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Tempo médio (ms)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="3810000" y="1390650"/>
          <a:ext cx="7429500" cy="1285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9ACC13CA-58FE-4A01-AB97-5AF136C2B8C0}"/>
              </a:ext>
            </a:extLst>
          </p:cNvPr>
          <p:cNvSpPr>
            <a:spLocks noGrp="1"/>
          </p:cNvSpPr>
          <p:nvPr/>
        </p:nvSpPr>
        <p:spPr>
          <a:xfrm>
            <a:off x="800100" y="2990850"/>
            <a:ext cx="2952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Memória média (KiB)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="3810000" y="2962275"/>
          <a:ext cx="7429500" cy="1285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Retângulo 7">
            <a:extLst>
              <a:ext uri="{FF2B5EF4-FFF2-40B4-BE49-F238E27FC236}">
                <a16:creationId xmlns:a16="http://schemas.microsoft.com/office/drawing/2014/main" id="{F32EA045-A80D-4F9E-ADD5-31D77C6E52CA}"/>
              </a:ext>
            </a:extLst>
          </p:cNvPr>
          <p:cNvSpPr>
            <a:spLocks noGrp="1"/>
          </p:cNvSpPr>
          <p:nvPr/>
        </p:nvSpPr>
        <p:spPr>
          <a:xfrm>
            <a:off x="800100" y="4562475"/>
            <a:ext cx="2952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Posições examinadas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="3810000" y="4533900"/>
          <a:ext cx="7429500" cy="1285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Retângulo 9">
            <a:extLst>
              <a:ext uri="{FF2B5EF4-FFF2-40B4-BE49-F238E27FC236}">
                <a16:creationId xmlns:a16="http://schemas.microsoft.com/office/drawing/2014/main" id="{C76DF91E-D74F-4682-9E08-0B438A3DFA8A}"/>
              </a:ext>
            </a:extLst>
          </p:cNvPr>
          <p:cNvSpPr>
            <a:spLocks noGrp="1"/>
          </p:cNvSpPr>
          <p:nvPr/>
        </p:nvSpPr>
        <p:spPr>
          <a:xfrm>
            <a:off x="800100" y="6067425"/>
            <a:ext cx="628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0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Movimentos: 8 em ambos os caminhos</a:t>
            </a:r>
          </a:p>
        </p:txBody>
      </p:sp>
    </p:spTree>
    <p:extLst>
      <p:ext uri="{BB962C8B-B14F-4D97-AF65-F5344CB8AC3E}">
        <p14:creationId xmlns:p14="http://schemas.microsoft.com/office/powerpoint/2010/main" val="1998346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tângulo 22">
            <a:extLst>
              <a:ext uri="{FF2B5EF4-FFF2-40B4-BE49-F238E27FC236}">
                <a16:creationId xmlns:a16="http://schemas.microsoft.com/office/drawing/2014/main" id="{67682AE8-A031-4F34-90C8-3BC2BC85B295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Vantagens e limites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FD3FD7D-31A9-4669-BF33-F5A96035175C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F498BFC-6372-4EC9-B2FC-37A5605C334E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54B2C84-F813-4880-8850-25E1A9183907}"/>
              </a:ext>
            </a:extLst>
          </p:cNvPr>
          <p:cNvSpPr>
            <a:spLocks noGrp="1"/>
          </p:cNvSpPr>
          <p:nvPr/>
        </p:nvSpPr>
        <p:spPr>
          <a:xfrm>
            <a:off x="723900" y="129540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DFS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AF4DBCC-5234-491D-BD69-2A0C4E69F3F9}"/>
              </a:ext>
            </a:extLst>
          </p:cNvPr>
          <p:cNvSpPr>
            <a:spLocks noGrp="1"/>
          </p:cNvSpPr>
          <p:nvPr/>
        </p:nvSpPr>
        <p:spPr>
          <a:xfrm>
            <a:off x="723900" y="1666875"/>
            <a:ext cx="4953000" cy="28575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84A3A1C-93EC-4EAF-9825-B68F6C17262F}"/>
              </a:ext>
            </a:extLst>
          </p:cNvPr>
          <p:cNvSpPr>
            <a:spLocks noGrp="1"/>
          </p:cNvSpPr>
          <p:nvPr/>
        </p:nvSpPr>
        <p:spPr>
          <a:xfrm>
            <a:off x="6496050" y="129540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BFS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F246B8E-6ADD-4D38-89C5-E10B308192BB}"/>
              </a:ext>
            </a:extLst>
          </p:cNvPr>
          <p:cNvSpPr>
            <a:spLocks noGrp="1"/>
          </p:cNvSpPr>
          <p:nvPr/>
        </p:nvSpPr>
        <p:spPr>
          <a:xfrm>
            <a:off x="6496050" y="1666875"/>
            <a:ext cx="4953000" cy="28575"/>
          </a:xfrm>
          <a:prstGeom prst="rect">
            <a:avLst/>
          </a:prstGeom>
          <a:solidFill>
            <a:srgbClr val="C97343"/>
          </a:solidFill>
          <a:ln w="0">
            <a:noFill/>
            <a:prstDash val="solid"/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1409C1E2-2C0F-4492-ACFA-11F78BD665C7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Vantagens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DC13F1F-E802-4778-A64F-7E2AC4B1E773}"/>
              </a:ext>
            </a:extLst>
          </p:cNvPr>
          <p:cNvSpPr>
            <a:spLocks noGrp="1"/>
          </p:cNvSpPr>
          <p:nvPr/>
        </p:nvSpPr>
        <p:spPr>
          <a:xfrm>
            <a:off x="723900" y="2457450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Estrutura simples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9914E29-D48C-47C5-8EE9-B6F5657C337A}"/>
              </a:ext>
            </a:extLst>
          </p:cNvPr>
          <p:cNvSpPr>
            <a:spLocks noGrp="1"/>
          </p:cNvSpPr>
          <p:nvPr/>
        </p:nvSpPr>
        <p:spPr>
          <a:xfrm>
            <a:off x="723900" y="2867025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Pode usar menos memória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866420E-C875-47CB-9A69-0C7559E12E0B}"/>
              </a:ext>
            </a:extLst>
          </p:cNvPr>
          <p:cNvSpPr>
            <a:spLocks noGrp="1"/>
          </p:cNvSpPr>
          <p:nvPr/>
        </p:nvSpPr>
        <p:spPr>
          <a:xfrm>
            <a:off x="723900" y="3276600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Às vezes acha uma solução cedo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1C91741-EEF9-4080-A1F5-01134A10957A}"/>
              </a:ext>
            </a:extLst>
          </p:cNvPr>
          <p:cNvSpPr>
            <a:spLocks noGrp="1"/>
          </p:cNvSpPr>
          <p:nvPr/>
        </p:nvSpPr>
        <p:spPr>
          <a:xfrm>
            <a:off x="723900" y="3952875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Limites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4B93917-6E8B-4211-B35C-480A5C1450E0}"/>
              </a:ext>
            </a:extLst>
          </p:cNvPr>
          <p:cNvSpPr>
            <a:spLocks noGrp="1"/>
          </p:cNvSpPr>
          <p:nvPr/>
        </p:nvSpPr>
        <p:spPr>
          <a:xfrm>
            <a:off x="723900" y="4371975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Não garante o menor caminho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7AB5BF3-232B-40B6-BB4C-3B4040575957}"/>
              </a:ext>
            </a:extLst>
          </p:cNvPr>
          <p:cNvSpPr>
            <a:spLocks noGrp="1"/>
          </p:cNvSpPr>
          <p:nvPr/>
        </p:nvSpPr>
        <p:spPr>
          <a:xfrm>
            <a:off x="723900" y="4781550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Depende da ordem de exploração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35446F8B-BB11-4E7A-B0A3-A7F6C0A9C3B7}"/>
              </a:ext>
            </a:extLst>
          </p:cNvPr>
          <p:cNvSpPr>
            <a:spLocks noGrp="1"/>
          </p:cNvSpPr>
          <p:nvPr/>
        </p:nvSpPr>
        <p:spPr>
          <a:xfrm>
            <a:off x="6496050" y="20383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Vantagens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1CDBF209-2BC3-4CEF-9983-108399948448}"/>
              </a:ext>
            </a:extLst>
          </p:cNvPr>
          <p:cNvSpPr>
            <a:spLocks noGrp="1"/>
          </p:cNvSpPr>
          <p:nvPr/>
        </p:nvSpPr>
        <p:spPr>
          <a:xfrm>
            <a:off x="6496050" y="2457450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Explora por níveis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28D6CA5-31A5-4223-AE3C-44512B3AA930}"/>
              </a:ext>
            </a:extLst>
          </p:cNvPr>
          <p:cNvSpPr>
            <a:spLocks noGrp="1"/>
          </p:cNvSpPr>
          <p:nvPr/>
        </p:nvSpPr>
        <p:spPr>
          <a:xfrm>
            <a:off x="6496050" y="2867025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Menor caminho com custos iguais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3031342E-4B1F-4080-B02C-8476F2613A56}"/>
              </a:ext>
            </a:extLst>
          </p:cNvPr>
          <p:cNvSpPr>
            <a:spLocks noGrp="1"/>
          </p:cNvSpPr>
          <p:nvPr/>
        </p:nvSpPr>
        <p:spPr>
          <a:xfrm>
            <a:off x="6496050" y="3952875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8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Limites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BAC90084-27E6-4F41-A60A-F08A79D6E323}"/>
              </a:ext>
            </a:extLst>
          </p:cNvPr>
          <p:cNvSpPr>
            <a:spLocks noGrp="1"/>
          </p:cNvSpPr>
          <p:nvPr/>
        </p:nvSpPr>
        <p:spPr>
          <a:xfrm>
            <a:off x="6496050" y="4371975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Guarda mais estados na fronteira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49467D9F-8A7D-4F11-A444-46EF6151A0A2}"/>
              </a:ext>
            </a:extLst>
          </p:cNvPr>
          <p:cNvSpPr>
            <a:spLocks noGrp="1"/>
          </p:cNvSpPr>
          <p:nvPr/>
        </p:nvSpPr>
        <p:spPr>
          <a:xfrm>
            <a:off x="6496050" y="4781550"/>
            <a:ext cx="4857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6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Pode consumir mais memória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E9825F70-E28A-4317-B8CD-0A0F62F9E5B5}"/>
              </a:ext>
            </a:extLst>
          </p:cNvPr>
          <p:cNvSpPr>
            <a:spLocks noGrp="1"/>
          </p:cNvSpPr>
          <p:nvPr/>
        </p:nvSpPr>
        <p:spPr>
          <a:xfrm>
            <a:off x="723900" y="5629275"/>
            <a:ext cx="485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Uso típico: encontrar uma solução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A6D768D4-E679-487D-80F4-8CC2A2E27689}"/>
              </a:ext>
            </a:extLst>
          </p:cNvPr>
          <p:cNvSpPr>
            <a:spLocks noGrp="1"/>
          </p:cNvSpPr>
          <p:nvPr/>
        </p:nvSpPr>
        <p:spPr>
          <a:xfrm>
            <a:off x="6496050" y="5629275"/>
            <a:ext cx="48577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Uso típico: exigir menor caminho</a:t>
            </a:r>
          </a:p>
        </p:txBody>
      </p:sp>
    </p:spTree>
    <p:extLst>
      <p:ext uri="{BB962C8B-B14F-4D97-AF65-F5344CB8AC3E}">
        <p14:creationId xmlns:p14="http://schemas.microsoft.com/office/powerpoint/2010/main" val="881801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ângulo 16">
            <a:extLst>
              <a:ext uri="{FF2B5EF4-FFF2-40B4-BE49-F238E27FC236}">
                <a16:creationId xmlns:a16="http://schemas.microsoft.com/office/drawing/2014/main" id="{775FF0F6-C13C-42A7-A19A-EA41E200CB0A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Qual algoritmo escolher?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FE79339-8AED-41FE-832C-8AF6B3B52F2D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8B3D0F5-D3D2-4A1F-ABCE-6D4ECBF96359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7CA3C16-BF38-4C1C-90FA-5C73531FC8E2}"/>
              </a:ext>
            </a:extLst>
          </p:cNvPr>
          <p:cNvSpPr>
            <a:spLocks noGrp="1"/>
          </p:cNvSpPr>
          <p:nvPr/>
        </p:nvSpPr>
        <p:spPr>
          <a:xfrm>
            <a:off x="800100" y="1543050"/>
            <a:ext cx="68580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Preciso do menor caminho?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F76943D-402F-468F-AC90-3BEF386DBFBA}"/>
              </a:ext>
            </a:extLst>
          </p:cNvPr>
          <p:cNvSpPr>
            <a:spLocks noGrp="1"/>
          </p:cNvSpPr>
          <p:nvPr/>
        </p:nvSpPr>
        <p:spPr>
          <a:xfrm>
            <a:off x="8305800" y="1543050"/>
            <a:ext cx="300037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BFS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7E82E5A-303F-46EA-8F48-89B710186997}"/>
              </a:ext>
            </a:extLst>
          </p:cNvPr>
          <p:cNvSpPr>
            <a:spLocks noGrp="1"/>
          </p:cNvSpPr>
          <p:nvPr/>
        </p:nvSpPr>
        <p:spPr>
          <a:xfrm>
            <a:off x="800100" y="2286000"/>
            <a:ext cx="104775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5A33120-82BB-4A15-9179-8BA359CACE79}"/>
              </a:ext>
            </a:extLst>
          </p:cNvPr>
          <p:cNvSpPr>
            <a:spLocks noGrp="1"/>
          </p:cNvSpPr>
          <p:nvPr/>
        </p:nvSpPr>
        <p:spPr>
          <a:xfrm>
            <a:off x="800100" y="2562225"/>
            <a:ext cx="68580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Basta encontrar uma solução?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5090CFF-C759-4DBE-883C-AACF6E054364}"/>
              </a:ext>
            </a:extLst>
          </p:cNvPr>
          <p:cNvSpPr>
            <a:spLocks noGrp="1"/>
          </p:cNvSpPr>
          <p:nvPr/>
        </p:nvSpPr>
        <p:spPr>
          <a:xfrm>
            <a:off x="8305800" y="2562225"/>
            <a:ext cx="300037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DFS pode servir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79D736D-7B01-42D0-A1E9-15ECDA25745B}"/>
              </a:ext>
            </a:extLst>
          </p:cNvPr>
          <p:cNvSpPr>
            <a:spLocks noGrp="1"/>
          </p:cNvSpPr>
          <p:nvPr/>
        </p:nvSpPr>
        <p:spPr>
          <a:xfrm>
            <a:off x="800100" y="3305175"/>
            <a:ext cx="104775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FD0E31C-2D97-45A7-87BF-15D23CC21824}"/>
              </a:ext>
            </a:extLst>
          </p:cNvPr>
          <p:cNvSpPr>
            <a:spLocks noGrp="1"/>
          </p:cNvSpPr>
          <p:nvPr/>
        </p:nvSpPr>
        <p:spPr>
          <a:xfrm>
            <a:off x="800100" y="3581400"/>
            <a:ext cx="68580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Memória é uma restrição?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2D0290C-D85F-47DB-9FE5-BCD642A5EEBD}"/>
              </a:ext>
            </a:extLst>
          </p:cNvPr>
          <p:cNvSpPr>
            <a:spLocks noGrp="1"/>
          </p:cNvSpPr>
          <p:nvPr/>
        </p:nvSpPr>
        <p:spPr>
          <a:xfrm>
            <a:off x="8305800" y="3581400"/>
            <a:ext cx="300037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Avaliar DFS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86D6D6D-3BCA-48CD-8E8E-5497BA5CBA82}"/>
              </a:ext>
            </a:extLst>
          </p:cNvPr>
          <p:cNvSpPr>
            <a:spLocks noGrp="1"/>
          </p:cNvSpPr>
          <p:nvPr/>
        </p:nvSpPr>
        <p:spPr>
          <a:xfrm>
            <a:off x="800100" y="4324350"/>
            <a:ext cx="104775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DD62078-D8A0-454A-B135-0A9D4C5BF73B}"/>
              </a:ext>
            </a:extLst>
          </p:cNvPr>
          <p:cNvSpPr>
            <a:spLocks noGrp="1"/>
          </p:cNvSpPr>
          <p:nvPr/>
        </p:nvSpPr>
        <p:spPr>
          <a:xfrm>
            <a:off x="800100" y="4600575"/>
            <a:ext cx="68580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 espaço de busca é amplo?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6D9FE445-33D0-4D70-B60B-B5B7A255195D}"/>
              </a:ext>
            </a:extLst>
          </p:cNvPr>
          <p:cNvSpPr>
            <a:spLocks noGrp="1"/>
          </p:cNvSpPr>
          <p:nvPr/>
        </p:nvSpPr>
        <p:spPr>
          <a:xfrm>
            <a:off x="8305800" y="4600575"/>
            <a:ext cx="300037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875" b="1">
                <a:solidFill>
                  <a:srgbClr val="C973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97343"/>
                </a:solidFill>
                <a:latin typeface="Arial"/>
                <a:ea typeface="Arial"/>
                <a:cs typeface="Arial"/>
              </a:rPr>
              <a:t>Avaliar custo da BFS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EEDDD4B7-F29C-4D95-98F3-2A79C654CB1A}"/>
              </a:ext>
            </a:extLst>
          </p:cNvPr>
          <p:cNvSpPr>
            <a:spLocks noGrp="1"/>
          </p:cNvSpPr>
          <p:nvPr/>
        </p:nvSpPr>
        <p:spPr>
          <a:xfrm>
            <a:off x="800100" y="5343525"/>
            <a:ext cx="104775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3532DC2C-42BD-4D32-89C4-9C1D1DAFEFA8}"/>
              </a:ext>
            </a:extLst>
          </p:cNvPr>
          <p:cNvSpPr>
            <a:spLocks noGrp="1"/>
          </p:cNvSpPr>
          <p:nvPr/>
        </p:nvSpPr>
        <p:spPr>
          <a:xfrm>
            <a:off x="800100" y="5857875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95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A escolha depende do objetivo do problema.</a:t>
            </a:r>
          </a:p>
        </p:txBody>
      </p:sp>
    </p:spTree>
    <p:extLst>
      <p:ext uri="{BB962C8B-B14F-4D97-AF65-F5344CB8AC3E}">
        <p14:creationId xmlns:p14="http://schemas.microsoft.com/office/powerpoint/2010/main" val="1506066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270A2C32-65A2-44F9-8084-CECB9D3A2E46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Neste labirinto, a DFS teve menor custo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92242A2B-150B-4963-BBF4-0EFBD0D19431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FB6465F-F421-4194-BBB9-5787AC935A8E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37227E0-74C0-476A-B424-AD25F61D760E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4000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57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57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DFS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4F2F5C8-A439-4B21-BE06-7DB116750155}"/>
              </a:ext>
            </a:extLst>
          </p:cNvPr>
          <p:cNvSpPr>
            <a:spLocks noGrp="1"/>
          </p:cNvSpPr>
          <p:nvPr/>
        </p:nvSpPr>
        <p:spPr>
          <a:xfrm>
            <a:off x="781050" y="2619375"/>
            <a:ext cx="685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foi mais rápida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41DA8BA-C027-4603-8AE4-C3172E8551D4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8096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0,0080055 ms contra 0,009720625 ms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D399DEC-8033-46D3-846B-7B9BAD1D300F}"/>
              </a:ext>
            </a:extLst>
          </p:cNvPr>
          <p:cNvSpPr>
            <a:spLocks noGrp="1"/>
          </p:cNvSpPr>
          <p:nvPr/>
        </p:nvSpPr>
        <p:spPr>
          <a:xfrm>
            <a:off x="781050" y="3952875"/>
            <a:ext cx="8096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1,086 KiB contra 2,117 KiB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69FA246-207B-4D1F-A201-7511E7E64ECC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8096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025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9 posições contra 11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3677761-176A-4D4A-9D95-AFFBA3046C10}"/>
              </a:ext>
            </a:extLst>
          </p:cNvPr>
          <p:cNvSpPr>
            <a:spLocks noGrp="1"/>
          </p:cNvSpPr>
          <p:nvPr/>
        </p:nvSpPr>
        <p:spPr>
          <a:xfrm>
            <a:off x="781050" y="5343525"/>
            <a:ext cx="1057275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D51DD63-7960-486D-BB2C-0E827553DC51}"/>
              </a:ext>
            </a:extLst>
          </p:cNvPr>
          <p:cNvSpPr>
            <a:spLocks noGrp="1"/>
          </p:cNvSpPr>
          <p:nvPr/>
        </p:nvSpPr>
        <p:spPr>
          <a:xfrm>
            <a:off x="781050" y="5495925"/>
            <a:ext cx="10287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1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Ambas encontraram um caminho de 8 movimentos.</a:t>
            </a:r>
          </a:p>
        </p:txBody>
      </p:sp>
    </p:spTree>
    <p:extLst>
      <p:ext uri="{BB962C8B-B14F-4D97-AF65-F5344CB8AC3E}">
        <p14:creationId xmlns:p14="http://schemas.microsoft.com/office/powerpoint/2010/main" val="910076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9C31C4C0-E0F4-4F84-9F79-12D6F219EE4B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7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Conclusão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C5A839C-E593-410F-9B32-6FD6EE3A98CB}"/>
              </a:ext>
            </a:extLst>
          </p:cNvPr>
          <p:cNvSpPr>
            <a:spLocks noGrp="1"/>
          </p:cNvSpPr>
          <p:nvPr/>
        </p:nvSpPr>
        <p:spPr>
          <a:xfrm>
            <a:off x="704850" y="6286500"/>
            <a:ext cx="10782300" cy="9525"/>
          </a:xfrm>
          <a:prstGeom prst="rect">
            <a:avLst/>
          </a:prstGeom>
          <a:solidFill>
            <a:srgbClr val="DFE4E0"/>
          </a:solidFill>
          <a:ln w="0">
            <a:noFill/>
            <a:prstDash val="solid"/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657BEF1-ACA2-448B-BDD8-9F2F9F8D0F30}"/>
              </a:ext>
            </a:extLst>
          </p:cNvPr>
          <p:cNvSpPr>
            <a:spLocks noGrp="1"/>
          </p:cNvSpPr>
          <p:nvPr/>
        </p:nvSpPr>
        <p:spPr>
          <a:xfrm>
            <a:off x="11087100" y="63817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defRPr sz="1050" b="0">
                <a:solidFill>
                  <a:srgbClr val="5E6A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E6A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59566AB-9883-4B56-AC6B-77D04322D693}"/>
              </a:ext>
            </a:extLst>
          </p:cNvPr>
          <p:cNvSpPr>
            <a:spLocks noGrp="1"/>
          </p:cNvSpPr>
          <p:nvPr/>
        </p:nvSpPr>
        <p:spPr>
          <a:xfrm>
            <a:off x="800100" y="1476375"/>
            <a:ext cx="103822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3000" b="1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42B"/>
                </a:solidFill>
                <a:latin typeface="Arial"/>
                <a:ea typeface="Arial"/>
                <a:cs typeface="Arial"/>
              </a:rPr>
              <a:t>Ambas resolveram o labirinto.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16D0D72-AF8A-42DA-AD58-CDA0D70CD52C}"/>
              </a:ext>
            </a:extLst>
          </p:cNvPr>
          <p:cNvSpPr>
            <a:spLocks noGrp="1"/>
          </p:cNvSpPr>
          <p:nvPr/>
        </p:nvSpPr>
        <p:spPr>
          <a:xfrm>
            <a:off x="800100" y="2543175"/>
            <a:ext cx="10382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9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As duas rotas têm 8 movimentos.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F8C80B3-EF48-4E0A-9990-86D3D31CB103}"/>
              </a:ext>
            </a:extLst>
          </p:cNvPr>
          <p:cNvSpPr>
            <a:spLocks noGrp="1"/>
          </p:cNvSpPr>
          <p:nvPr/>
        </p:nvSpPr>
        <p:spPr>
          <a:xfrm>
            <a:off x="800100" y="3267075"/>
            <a:ext cx="10382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9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DFS usou menos tempo e memória neste teste.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481B240-1DB0-4827-93DA-05542A371B70}"/>
              </a:ext>
            </a:extLst>
          </p:cNvPr>
          <p:cNvSpPr>
            <a:spLocks noGrp="1"/>
          </p:cNvSpPr>
          <p:nvPr/>
        </p:nvSpPr>
        <p:spPr>
          <a:xfrm>
            <a:off x="800100" y="3990975"/>
            <a:ext cx="10382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9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BFS mantém a garantia do menor caminho com custos iguais.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FE76FBF-0A83-4A26-947B-2A38B770BA43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10477500" cy="28575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FB57720-C1E0-4863-ADD5-118A873C5858}"/>
              </a:ext>
            </a:extLst>
          </p:cNvPr>
          <p:cNvSpPr>
            <a:spLocks noGrp="1"/>
          </p:cNvSpPr>
          <p:nvPr/>
        </p:nvSpPr>
        <p:spPr>
          <a:xfrm>
            <a:off x="800100" y="5314950"/>
            <a:ext cx="10477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391"/>
          </a:bodyPr>
          <a:lstStyle/>
          <a:p>
            <a:pPr algn="l">
              <a:defRPr sz="2175" b="1">
                <a:solidFill>
                  <a:srgbClr val="14796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96F"/>
                </a:solidFill>
                <a:latin typeface="Arial"/>
                <a:ea typeface="Arial"/>
                <a:cs typeface="Arial"/>
              </a:rPr>
              <a:t>Algoritmos diferentes podem resolver o mesmo problema de maneiras muito diferentes.</a:t>
            </a:r>
          </a:p>
        </p:txBody>
      </p:sp>
    </p:spTree>
    <p:extLst>
      <p:ext uri="{BB962C8B-B14F-4D97-AF65-F5344CB8AC3E}">
        <p14:creationId xmlns:p14="http://schemas.microsoft.com/office/powerpoint/2010/main" val="5209502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5989AA2-CAD6-4B40-A09C-8855765163D5}"/>
              </a:ext>
            </a:extLst>
          </p:cNvPr>
          <p:cNvSpPr>
            <a:spLocks noGrp="1"/>
          </p:cNvSpPr>
          <p:nvPr/>
        </p:nvSpPr>
        <p:spPr>
          <a:xfrm>
            <a:off x="752475" y="1847850"/>
            <a:ext cx="838200" cy="57150"/>
          </a:xfrm>
          <a:prstGeom prst="rect">
            <a:avLst/>
          </a:prstGeom>
          <a:solidFill>
            <a:srgbClr val="14796F"/>
          </a:solidFill>
          <a:ln w="0">
            <a:noFill/>
            <a:prstDash val="solid"/>
          </a:ln>
        </p:spPr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28A0541-C161-4286-A936-DCCF67837159}"/>
              </a:ext>
            </a:extLst>
          </p:cNvPr>
          <p:cNvSpPr>
            <a:spLocks noGrp="1"/>
          </p:cNvSpPr>
          <p:nvPr/>
        </p:nvSpPr>
        <p:spPr>
          <a:xfrm>
            <a:off x="752475" y="2428875"/>
            <a:ext cx="87630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Obrigado!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9679C87-9F2B-47C5-A106-D8B1541BE391}"/>
              </a:ext>
            </a:extLst>
          </p:cNvPr>
          <p:cNvSpPr>
            <a:spLocks noGrp="1"/>
          </p:cNvSpPr>
          <p:nvPr/>
        </p:nvSpPr>
        <p:spPr>
          <a:xfrm>
            <a:off x="790575" y="3629025"/>
            <a:ext cx="7620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2550" b="0">
                <a:solidFill>
                  <a:srgbClr val="BAD0C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BAD0CF"/>
                </a:solidFill>
                <a:latin typeface="Arial"/>
                <a:ea typeface="Arial"/>
                <a:cs typeface="Arial"/>
              </a:rPr>
              <a:t>Perguntas?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3B1F62A-0B8A-4777-9FC9-02E1C74CAAD9}"/>
              </a:ext>
            </a:extLst>
          </p:cNvPr>
          <p:cNvSpPr>
            <a:spLocks noGrp="1"/>
          </p:cNvSpPr>
          <p:nvPr/>
        </p:nvSpPr>
        <p:spPr>
          <a:xfrm>
            <a:off x="790575" y="5724525"/>
            <a:ext cx="952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425" b="0">
                <a:solidFill>
                  <a:srgbClr val="89A6A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89A6A9"/>
                </a:solidFill>
                <a:latin typeface="Arial"/>
                <a:ea typeface="Arial"/>
                <a:cs typeface="Arial"/>
              </a:rPr>
              <a:t>github.com/gaschenorberger/BuscaCegaIA</a:t>
            </a:r>
          </a:p>
        </p:txBody>
      </p:sp>
    </p:spTree>
    <p:extLst>
      <p:ext uri="{BB962C8B-B14F-4D97-AF65-F5344CB8AC3E}">
        <p14:creationId xmlns:p14="http://schemas.microsoft.com/office/powerpoint/2010/main" val="97690166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1655</Words>
  <Application>Microsoft Office PowerPoint</Application>
  <DocSecurity>0</DocSecurity>
  <PresentationFormat>Widescreen</PresentationFormat>
  <Paragraphs>251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Gabriel Alvise Schenorberger</cp:lastModifiedBy>
  <cp:revision>2</cp:revision>
  <dcterms:created xsi:type="dcterms:W3CDTF">2026-09-18T14:37:37Z</dcterms:created>
  <dcterms:modified xsi:type="dcterms:W3CDTF">2026-09-18T17:48:35Z</dcterms:modified>
</cp:coreProperties>
</file>